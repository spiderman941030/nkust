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3" r:id="rId3"/>
    <p:sldId id="257" r:id="rId4"/>
    <p:sldId id="265" r:id="rId5"/>
    <p:sldId id="259" r:id="rId6"/>
    <p:sldId id="264" r:id="rId7"/>
    <p:sldId id="268" r:id="rId8"/>
    <p:sldId id="269" r:id="rId9"/>
    <p:sldId id="266" r:id="rId10"/>
    <p:sldId id="267" r:id="rId11"/>
    <p:sldId id="271" r:id="rId12"/>
    <p:sldId id="270" r:id="rId13"/>
    <p:sldId id="260" r:id="rId14"/>
    <p:sldId id="261" r:id="rId15"/>
    <p:sldId id="262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/>
    <p:restoredTop sz="94582"/>
  </p:normalViewPr>
  <p:slideViewPr>
    <p:cSldViewPr snapToGrid="0">
      <p:cViewPr varScale="1">
        <p:scale>
          <a:sx n="160" d="100"/>
          <a:sy n="160" d="100"/>
        </p:scale>
        <p:origin x="21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75764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9929bdf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e9929bdf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9929bdf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e9929bdf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9929bdfcb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e9929bdfcb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21CB56B-C4A5-82DC-6FF2-94263AD4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9929bdfcb_0_89:notes">
            <a:extLst>
              <a:ext uri="{FF2B5EF4-FFF2-40B4-BE49-F238E27FC236}">
                <a16:creationId xmlns:a16="http://schemas.microsoft.com/office/drawing/2014/main" id="{B2F6D92D-78DE-3C01-8C59-00FA97D36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e9929bdfcb_0_89:notes">
            <a:extLst>
              <a:ext uri="{FF2B5EF4-FFF2-40B4-BE49-F238E27FC236}">
                <a16:creationId xmlns:a16="http://schemas.microsoft.com/office/drawing/2014/main" id="{14255B1F-8F47-CBCE-1976-40DCC518E2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0882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3ebe0a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ef3ebe0a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FBB323A1-5237-7264-8488-DE6AD75F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3ebe0aaf_0_0:notes">
            <a:extLst>
              <a:ext uri="{FF2B5EF4-FFF2-40B4-BE49-F238E27FC236}">
                <a16:creationId xmlns:a16="http://schemas.microsoft.com/office/drawing/2014/main" id="{30836F4A-14F5-66B9-5A7E-3A3DA1BA4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ef3ebe0aaf_0_0:notes">
            <a:extLst>
              <a:ext uri="{FF2B5EF4-FFF2-40B4-BE49-F238E27FC236}">
                <a16:creationId xmlns:a16="http://schemas.microsoft.com/office/drawing/2014/main" id="{3E41F77E-0E97-80A9-1CD2-9F6ADDBB9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101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BB6DB0BD-17F7-85F6-5E87-C464851F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3ebe0aaf_0_0:notes">
            <a:extLst>
              <a:ext uri="{FF2B5EF4-FFF2-40B4-BE49-F238E27FC236}">
                <a16:creationId xmlns:a16="http://schemas.microsoft.com/office/drawing/2014/main" id="{132980BE-D846-9D31-11DE-4A386737E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ef3ebe0aaf_0_0:notes">
            <a:extLst>
              <a:ext uri="{FF2B5EF4-FFF2-40B4-BE49-F238E27FC236}">
                <a16:creationId xmlns:a16="http://schemas.microsoft.com/office/drawing/2014/main" id="{43ADD763-9C8F-5BB6-1BC0-A39BF63E9A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4030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9D775697-7A32-867B-D905-322677F3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3ebe0aaf_0_0:notes">
            <a:extLst>
              <a:ext uri="{FF2B5EF4-FFF2-40B4-BE49-F238E27FC236}">
                <a16:creationId xmlns:a16="http://schemas.microsoft.com/office/drawing/2014/main" id="{D96E0A4B-EC93-2489-EF0C-93C3F4953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ef3ebe0aaf_0_0:notes">
            <a:extLst>
              <a:ext uri="{FF2B5EF4-FFF2-40B4-BE49-F238E27FC236}">
                <a16:creationId xmlns:a16="http://schemas.microsoft.com/office/drawing/2014/main" id="{8E7E463D-54E4-B8F7-C0B1-650717092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3515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3094455E-8401-007D-6494-C2F3FF49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3ebe0aaf_0_0:notes">
            <a:extLst>
              <a:ext uri="{FF2B5EF4-FFF2-40B4-BE49-F238E27FC236}">
                <a16:creationId xmlns:a16="http://schemas.microsoft.com/office/drawing/2014/main" id="{537DA4EB-32A1-E8B9-9E90-197FEBA5F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ef3ebe0aaf_0_0:notes">
            <a:extLst>
              <a:ext uri="{FF2B5EF4-FFF2-40B4-BE49-F238E27FC236}">
                <a16:creationId xmlns:a16="http://schemas.microsoft.com/office/drawing/2014/main" id="{B5FFF1D5-E798-8D57-581E-2B90F9F5A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8440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B7DA125C-9E7C-AE1D-8B85-4EC9156A1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3ebe0aaf_0_0:notes">
            <a:extLst>
              <a:ext uri="{FF2B5EF4-FFF2-40B4-BE49-F238E27FC236}">
                <a16:creationId xmlns:a16="http://schemas.microsoft.com/office/drawing/2014/main" id="{95F18E3E-7ED4-4D1A-2210-13C81DDB3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ef3ebe0aaf_0_0:notes">
            <a:extLst>
              <a:ext uri="{FF2B5EF4-FFF2-40B4-BE49-F238E27FC236}">
                <a16:creationId xmlns:a16="http://schemas.microsoft.com/office/drawing/2014/main" id="{DCDC659C-3A8A-3DF9-6B8F-27B561045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27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D5E9F1AB-5B20-356B-B8BD-3AA8F264E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3ebe0aaf_0_0:notes">
            <a:extLst>
              <a:ext uri="{FF2B5EF4-FFF2-40B4-BE49-F238E27FC236}">
                <a16:creationId xmlns:a16="http://schemas.microsoft.com/office/drawing/2014/main" id="{65F4270B-C548-9A6D-E4A6-88CDFF4B9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ef3ebe0aaf_0_0:notes">
            <a:extLst>
              <a:ext uri="{FF2B5EF4-FFF2-40B4-BE49-F238E27FC236}">
                <a16:creationId xmlns:a16="http://schemas.microsoft.com/office/drawing/2014/main" id="{33A19972-83CA-AC6C-CE68-3F2E7F168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4084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3C2D8160-3E3A-E24E-8BF1-78C256F6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3ebe0aaf_0_0:notes">
            <a:extLst>
              <a:ext uri="{FF2B5EF4-FFF2-40B4-BE49-F238E27FC236}">
                <a16:creationId xmlns:a16="http://schemas.microsoft.com/office/drawing/2014/main" id="{A04A1AD5-1953-13B6-98CE-96276C4D6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ef3ebe0aaf_0_0:notes">
            <a:extLst>
              <a:ext uri="{FF2B5EF4-FFF2-40B4-BE49-F238E27FC236}">
                <a16:creationId xmlns:a16="http://schemas.microsoft.com/office/drawing/2014/main" id="{200F9CC2-BD0D-20D0-8BE6-8599D37A5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837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ef3ebe0aa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ef3ebe0aa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f3ebe0aa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ef3ebe0aa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ef3ebe0aa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ef3ebe0aa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zh-TW" dirty="0"/>
              <a:t>作業投影片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4"/>
            <a:ext cx="8520600" cy="129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zh-TW" dirty="0"/>
              <a:t>姓名: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zh-TW" altLang="en-US" dirty="0"/>
              <a:t>學號</a:t>
            </a:r>
            <a:r>
              <a:rPr lang="en-US" altLang="zh-TW" dirty="0"/>
              <a:t>: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8ECD1F8-3449-ED15-4C3A-8FC690991D4E}"/>
              </a:ext>
            </a:extLst>
          </p:cNvPr>
          <p:cNvSpPr txBox="1"/>
          <p:nvPr/>
        </p:nvSpPr>
        <p:spPr>
          <a:xfrm>
            <a:off x="1275347" y="2897910"/>
            <a:ext cx="2045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dirty="0"/>
              <a:t>林佳穎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5297472-726F-9BEC-2AF3-120E59440072}"/>
              </a:ext>
            </a:extLst>
          </p:cNvPr>
          <p:cNvSpPr txBox="1"/>
          <p:nvPr/>
        </p:nvSpPr>
        <p:spPr>
          <a:xfrm>
            <a:off x="1371600" y="3482685"/>
            <a:ext cx="1208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C113190112</a:t>
            </a:r>
            <a:endParaRPr kumimoji="1"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/>
          <p:cNvSpPr>
            <a:spLocks noGrp="1"/>
          </p:cNvSpPr>
          <p:nvPr>
            <p:ph type="subTitle" idx="1"/>
          </p:nvPr>
        </p:nvSpPr>
        <p:spPr>
          <a:xfrm>
            <a:off x="311700" y="1085850"/>
            <a:ext cx="8520600" cy="3619500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altLang="zh-TW" dirty="0"/>
          </a:p>
          <a:p>
            <a:pPr algn="l"/>
            <a:r>
              <a:rPr lang="en-US" altLang="zh-TW" dirty="0"/>
              <a:t>1. </a:t>
            </a:r>
            <a:r>
              <a:rPr lang="zh-TW" altLang="en-US" dirty="0"/>
              <a:t>試撰寫一程式，讀入</a:t>
            </a:r>
            <a:r>
              <a:rPr lang="en-US" altLang="zh-TW" dirty="0"/>
              <a:t>x</a:t>
            </a:r>
            <a:r>
              <a:rPr lang="zh-TW" altLang="en-US" dirty="0"/>
              <a:t>、</a:t>
            </a:r>
            <a:r>
              <a:rPr lang="en-US" altLang="zh-TW" dirty="0"/>
              <a:t>y</a:t>
            </a:r>
            <a:r>
              <a:rPr lang="zh-TW" altLang="en-US" dirty="0"/>
              <a:t>座標值，判斷該點位於那一個象限或是在座標軸上。舉例來說，若輸入的座標值為</a:t>
            </a:r>
            <a:r>
              <a:rPr lang="en-US" altLang="zh-TW" dirty="0"/>
              <a:t>(3.0, -2.5)</a:t>
            </a:r>
            <a:r>
              <a:rPr lang="zh-TW" altLang="en-US" dirty="0"/>
              <a:t>，輸出即為第四象限；若輸入的座標值為</a:t>
            </a:r>
            <a:r>
              <a:rPr lang="en-US" altLang="zh-TW" dirty="0"/>
              <a:t>(4.5, 0.0)</a:t>
            </a:r>
            <a:r>
              <a:rPr lang="zh-TW" altLang="en-US" dirty="0"/>
              <a:t>，則輸出即為</a:t>
            </a:r>
            <a:r>
              <a:rPr lang="en-US" altLang="zh-TW" dirty="0"/>
              <a:t>x</a:t>
            </a:r>
            <a:r>
              <a:rPr lang="zh-TW" altLang="en-US" dirty="0"/>
              <a:t>軸。</a:t>
            </a:r>
            <a:br>
              <a:rPr lang="zh-TW" altLang="en-US" dirty="0"/>
            </a:br>
            <a:br>
              <a:rPr lang="zh-TW" altLang="en-US" dirty="0"/>
            </a:br>
            <a:endParaRPr lang="zh-TW" altLang="en-US" dirty="0"/>
          </a:p>
          <a:p>
            <a:pPr algn="l"/>
            <a:r>
              <a:rPr lang="en-US" altLang="zh-TW" dirty="0"/>
              <a:t>2. </a:t>
            </a:r>
            <a:r>
              <a:rPr lang="zh-TW" altLang="en-US" dirty="0"/>
              <a:t>挑選台灣</a:t>
            </a:r>
            <a:r>
              <a:rPr lang="en-US" altLang="zh-TW" dirty="0"/>
              <a:t>10</a:t>
            </a:r>
            <a:r>
              <a:rPr lang="zh-TW" altLang="en-US" dirty="0"/>
              <a:t>個縣市，使用者輸入一個縣市，就會對應到今天的溫度。</a:t>
            </a:r>
          </a:p>
          <a:p>
            <a:pPr lvl="1" algn="l"/>
            <a:r>
              <a:rPr lang="en-US" altLang="zh-TW" dirty="0"/>
              <a:t>a. </a:t>
            </a:r>
            <a:r>
              <a:rPr lang="zh-TW" altLang="en-US" dirty="0"/>
              <a:t>用</a:t>
            </a:r>
            <a:r>
              <a:rPr lang="en-US" altLang="zh-TW" dirty="0"/>
              <a:t>list</a:t>
            </a:r>
            <a:r>
              <a:rPr lang="zh-TW" altLang="en-US" dirty="0"/>
              <a:t>把今天的溫度存進去。</a:t>
            </a:r>
          </a:p>
          <a:p>
            <a:pPr lvl="1" algn="l"/>
            <a:r>
              <a:rPr lang="en-US" altLang="zh-TW" dirty="0"/>
              <a:t>b. </a:t>
            </a:r>
            <a:r>
              <a:rPr lang="zh-TW" altLang="en-US" dirty="0"/>
              <a:t>用</a:t>
            </a:r>
            <a:r>
              <a:rPr lang="en-US" altLang="zh-TW" dirty="0"/>
              <a:t>list</a:t>
            </a:r>
            <a:r>
              <a:rPr lang="zh-TW" altLang="en-US" dirty="0"/>
              <a:t>的方式去對應使用者的輸入。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273608" y="433425"/>
            <a:ext cx="8520600" cy="576225"/>
          </a:xfrm>
        </p:spPr>
        <p:txBody>
          <a:bodyPr>
            <a:noAutofit/>
          </a:bodyPr>
          <a:lstStyle/>
          <a:p>
            <a:r>
              <a:rPr lang="zh-TW" altLang="en-US" sz="3000" b="1" dirty="0"/>
              <a:t>題目</a:t>
            </a:r>
          </a:p>
        </p:txBody>
      </p:sp>
    </p:spTree>
    <p:extLst>
      <p:ext uri="{BB962C8B-B14F-4D97-AF65-F5344CB8AC3E}">
        <p14:creationId xmlns:p14="http://schemas.microsoft.com/office/powerpoint/2010/main" val="390591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-150375" y="13835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-1270750" y="789175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Empathy</a:t>
            </a:r>
            <a:endParaRPr sz="30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探索問題</a:t>
            </a:r>
            <a:endParaRPr sz="30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描述你現在要去執行的作業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完成之後可能長什麼樣子？試著用文字寫出來</a:t>
            </a:r>
            <a:endParaRPr sz="2000" b="1" dirty="0">
              <a:solidFill>
                <a:srgbClr val="FFFFFF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2356000" y="1181950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CB0F2C8-9F67-F20D-CF11-BD3E31A11BC6}"/>
              </a:ext>
            </a:extLst>
          </p:cNvPr>
          <p:cNvSpPr txBox="1"/>
          <p:nvPr/>
        </p:nvSpPr>
        <p:spPr>
          <a:xfrm>
            <a:off x="10193572" y="203553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7922655-A715-DF15-6EF3-257399EF4B04}"/>
              </a:ext>
            </a:extLst>
          </p:cNvPr>
          <p:cNvSpPr txBox="1"/>
          <p:nvPr/>
        </p:nvSpPr>
        <p:spPr>
          <a:xfrm>
            <a:off x="2530854" y="1152475"/>
            <a:ext cx="51103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/>
              <a:t>determine_quadrant</a:t>
            </a:r>
            <a:r>
              <a:rPr lang="en-US" altLang="zh-TW" b="1" dirty="0"/>
              <a:t>(x, y)</a:t>
            </a:r>
          </a:p>
          <a:p>
            <a:r>
              <a:rPr lang="zh-TW" altLang="en-US" b="1" dirty="0"/>
              <a:t>功能</a:t>
            </a:r>
            <a:r>
              <a:rPr lang="en-US" altLang="zh-TW" dirty="0"/>
              <a:t>: </a:t>
            </a:r>
            <a:r>
              <a:rPr lang="zh-TW" altLang="en-US" dirty="0"/>
              <a:t>根據入的 </a:t>
            </a:r>
            <a:r>
              <a:rPr lang="en-US" altLang="zh-TW" dirty="0"/>
              <a:t>x </a:t>
            </a:r>
            <a:r>
              <a:rPr lang="zh-TW" altLang="en-US" dirty="0"/>
              <a:t>和 </a:t>
            </a:r>
            <a:r>
              <a:rPr lang="en-US" altLang="zh-TW" dirty="0"/>
              <a:t>y </a:t>
            </a:r>
            <a:r>
              <a:rPr lang="zh-TW" altLang="en-US" dirty="0"/>
              <a:t>值，返回該點的位置情況。</a:t>
            </a:r>
          </a:p>
          <a:p>
            <a:r>
              <a:rPr kumimoji="1" lang="zh-TW" altLang="en-US" dirty="0"/>
              <a:t>需要有條件判斷 第一象限和第二第三第四象限</a:t>
            </a:r>
            <a:endParaRPr kumimoji="1" lang="en-US" altLang="zh-TW" dirty="0"/>
          </a:p>
          <a:p>
            <a:r>
              <a:rPr kumimoji="1" lang="zh-TW" altLang="en-US" dirty="0"/>
              <a:t>利用上次上課所學到的</a:t>
            </a:r>
            <a:r>
              <a:rPr kumimoji="1" lang="en-US" altLang="zh-TW" dirty="0"/>
              <a:t>if </a:t>
            </a:r>
            <a:r>
              <a:rPr kumimoji="1" lang="zh-TW" altLang="en-US" dirty="0"/>
              <a:t>和</a:t>
            </a:r>
            <a:r>
              <a:rPr kumimoji="1" lang="en-US" altLang="zh-TW" dirty="0" err="1"/>
              <a:t>elif</a:t>
            </a:r>
            <a:r>
              <a:rPr kumimoji="1" lang="en-US" altLang="zh-TW" dirty="0"/>
              <a:t> </a:t>
            </a:r>
            <a:r>
              <a:rPr kumimoji="1" lang="zh-TW" altLang="en-US" dirty="0"/>
              <a:t>用法去做看看</a:t>
            </a:r>
            <a:endParaRPr kumimoji="1" lang="en-US" altLang="zh-TW" dirty="0"/>
          </a:p>
          <a:p>
            <a:r>
              <a:rPr lang="en-US" altLang="zh-TW" dirty="0"/>
              <a:t>if x == 0 and y == 0: </a:t>
            </a:r>
          </a:p>
          <a:p>
            <a:r>
              <a:rPr lang="en-US" altLang="zh-TW" dirty="0"/>
              <a:t>    return "</a:t>
            </a:r>
            <a:r>
              <a:rPr lang="zh-TW" altLang="en-US" dirty="0"/>
              <a:t>原點</a:t>
            </a:r>
            <a:r>
              <a:rPr lang="en-US" altLang="zh-TW" dirty="0"/>
              <a:t>"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 err="1"/>
              <a:t>elif</a:t>
            </a:r>
            <a:r>
              <a:rPr lang="en-US" altLang="zh-TW" dirty="0"/>
              <a:t> x == 0: </a:t>
            </a:r>
          </a:p>
          <a:p>
            <a:r>
              <a:rPr lang="en-US" altLang="zh-TW" dirty="0"/>
              <a:t>     return "y</a:t>
            </a:r>
            <a:r>
              <a:rPr lang="zh-TW" altLang="en-US" dirty="0"/>
              <a:t>軸</a:t>
            </a:r>
            <a:r>
              <a:rPr lang="en-US" altLang="zh-TW" dirty="0"/>
              <a:t>"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 err="1"/>
              <a:t>elif</a:t>
            </a:r>
            <a:r>
              <a:rPr lang="en-US" altLang="zh-TW" dirty="0"/>
              <a:t> y == 0: </a:t>
            </a:r>
          </a:p>
          <a:p>
            <a:r>
              <a:rPr lang="en-US" altLang="zh-TW" dirty="0"/>
              <a:t>    return "x</a:t>
            </a:r>
            <a:r>
              <a:rPr lang="zh-TW" altLang="en-US" dirty="0"/>
              <a:t>軸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 </a:t>
            </a:r>
            <a:r>
              <a:rPr lang="en-US" altLang="zh-TW" dirty="0" err="1"/>
              <a:t>elif</a:t>
            </a:r>
            <a:r>
              <a:rPr lang="en-US" altLang="zh-TW" dirty="0"/>
              <a:t> x &gt; 0 and y &gt; 0:</a:t>
            </a:r>
          </a:p>
          <a:p>
            <a:r>
              <a:rPr lang="en-US" altLang="zh-TW" dirty="0"/>
              <a:t>       return "</a:t>
            </a:r>
            <a:r>
              <a:rPr lang="zh-TW" altLang="en-US" dirty="0"/>
              <a:t>第一象限</a:t>
            </a:r>
            <a:r>
              <a:rPr lang="en-US" altLang="zh-TW" dirty="0"/>
              <a:t>"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 err="1"/>
              <a:t>elif</a:t>
            </a:r>
            <a:r>
              <a:rPr lang="en-US" altLang="zh-TW" dirty="0"/>
              <a:t> x &lt; 0 and y &gt; 0: </a:t>
            </a:r>
          </a:p>
          <a:p>
            <a:r>
              <a:rPr lang="en-US" altLang="zh-TW" dirty="0"/>
              <a:t>     return "</a:t>
            </a:r>
            <a:r>
              <a:rPr lang="zh-TW" altLang="en-US" dirty="0"/>
              <a:t>第二象限</a:t>
            </a:r>
            <a:r>
              <a:rPr lang="en-US" altLang="zh-TW" dirty="0"/>
              <a:t>"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 err="1"/>
              <a:t>elif</a:t>
            </a:r>
            <a:r>
              <a:rPr lang="en-US" altLang="zh-TW" dirty="0"/>
              <a:t> x &lt; 0 and y &lt; 0:</a:t>
            </a:r>
          </a:p>
          <a:p>
            <a:r>
              <a:rPr lang="en-US" altLang="zh-TW" dirty="0"/>
              <a:t> return "</a:t>
            </a:r>
            <a:r>
              <a:rPr lang="zh-TW" altLang="en-US" dirty="0"/>
              <a:t>第三象限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 </a:t>
            </a:r>
            <a:r>
              <a:rPr lang="en-US" altLang="zh-TW" dirty="0" err="1"/>
              <a:t>elif</a:t>
            </a:r>
            <a:r>
              <a:rPr lang="en-US" altLang="zh-TW" dirty="0"/>
              <a:t> x &gt; 0 and y &lt; 0: </a:t>
            </a:r>
          </a:p>
          <a:p>
            <a:r>
              <a:rPr lang="en-US" altLang="zh-TW" dirty="0"/>
              <a:t>return "</a:t>
            </a:r>
            <a:r>
              <a:rPr lang="zh-TW" altLang="en-US" dirty="0"/>
              <a:t>第四象限</a:t>
            </a:r>
            <a:r>
              <a:rPr lang="en-US" altLang="zh-TW" dirty="0"/>
              <a:t>"</a:t>
            </a:r>
            <a:endParaRPr kumimoji="1"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1A91D212-66EF-151C-F967-7F078722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7FF9D17-BB24-CFE5-DC38-25C16B23B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F834F652-D803-8CED-AD2D-3AC51F5B2A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9282FE0-295A-2C8B-0DF4-A7FAD0CBC296}"/>
              </a:ext>
            </a:extLst>
          </p:cNvPr>
          <p:cNvSpPr/>
          <p:nvPr/>
        </p:nvSpPr>
        <p:spPr>
          <a:xfrm>
            <a:off x="-150375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E3D64382-AD81-9DBB-0EED-3E565E617BC6}"/>
              </a:ext>
            </a:extLst>
          </p:cNvPr>
          <p:cNvSpPr/>
          <p:nvPr/>
        </p:nvSpPr>
        <p:spPr>
          <a:xfrm>
            <a:off x="-1270750" y="789175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3E061D3-8D09-2462-ECD8-E9B261BBB91F}"/>
              </a:ext>
            </a:extLst>
          </p:cNvPr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Empathy</a:t>
            </a:r>
            <a:endParaRPr sz="30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探索問題</a:t>
            </a:r>
            <a:endParaRPr sz="30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EB94FE41-6F25-FAF3-EE04-D58E1BC585A3}"/>
              </a:ext>
            </a:extLst>
          </p:cNvPr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描述你現在要去執行的作業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完成之後可能長什麼樣子？試著用文字寫出來</a:t>
            </a:r>
            <a:endParaRPr sz="2000" b="1" dirty="0">
              <a:solidFill>
                <a:srgbClr val="FFFFFF"/>
              </a:solidFill>
            </a:endParaRPr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DD443FF-1B6A-7F1B-93CB-873D8486D389}"/>
              </a:ext>
            </a:extLst>
          </p:cNvPr>
          <p:cNvSpPr/>
          <p:nvPr/>
        </p:nvSpPr>
        <p:spPr>
          <a:xfrm>
            <a:off x="2356000" y="1181950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FD9D2EF-03AC-9AB8-C945-79F5854DAD1A}"/>
              </a:ext>
            </a:extLst>
          </p:cNvPr>
          <p:cNvSpPr txBox="1"/>
          <p:nvPr/>
        </p:nvSpPr>
        <p:spPr>
          <a:xfrm>
            <a:off x="10193572" y="203553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A3EC02-57AB-E238-B92B-427266635F42}"/>
              </a:ext>
            </a:extLst>
          </p:cNvPr>
          <p:cNvSpPr txBox="1"/>
          <p:nvPr/>
        </p:nvSpPr>
        <p:spPr>
          <a:xfrm>
            <a:off x="2783529" y="1404997"/>
            <a:ext cx="51103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/>
              <a:t>定義縣市和溫度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使用兩個 </a:t>
            </a:r>
            <a:r>
              <a:rPr lang="en-US" altLang="zh-TW" dirty="0"/>
              <a:t>list</a:t>
            </a:r>
            <a:r>
              <a:rPr lang="zh-TW" altLang="en-US" dirty="0"/>
              <a:t>，</a:t>
            </a:r>
            <a:r>
              <a:rPr lang="en-US" altLang="zh-TW" dirty="0"/>
              <a:t>cities </a:t>
            </a:r>
            <a:r>
              <a:rPr lang="zh-TW" altLang="en-US" dirty="0"/>
              <a:t>用來存放台灣的</a:t>
            </a:r>
            <a:r>
              <a:rPr lang="en-US" altLang="zh-TW" dirty="0"/>
              <a:t>10</a:t>
            </a:r>
            <a:r>
              <a:rPr lang="zh-TW" altLang="en-US" dirty="0"/>
              <a:t>個縣市名稱，</a:t>
            </a:r>
            <a:r>
              <a:rPr lang="en-US" altLang="zh-TW" dirty="0"/>
              <a:t>temperatures </a:t>
            </a:r>
            <a:r>
              <a:rPr lang="zh-TW" altLang="en-US" dirty="0"/>
              <a:t>用來存放對應的今日溫度。</a:t>
            </a:r>
          </a:p>
          <a:p>
            <a:r>
              <a:rPr lang="zh-TW" altLang="en-US" b="1" dirty="0"/>
              <a:t>使用者輸入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使用 </a:t>
            </a:r>
            <a:r>
              <a:rPr lang="en-US" altLang="zh-TW" dirty="0"/>
              <a:t>input() </a:t>
            </a:r>
            <a:r>
              <a:rPr lang="zh-TW" altLang="en-US" dirty="0"/>
              <a:t>函數讓使用者輸入想查詢的縣市名稱。</a:t>
            </a:r>
          </a:p>
          <a:p>
            <a:r>
              <a:rPr lang="zh-TW" altLang="en-US" b="1" dirty="0"/>
              <a:t>查找溫度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程式檢查使用者的輸入是否在 </a:t>
            </a:r>
            <a:r>
              <a:rPr lang="en-US" altLang="zh-TW" dirty="0"/>
              <a:t>cities </a:t>
            </a:r>
            <a:r>
              <a:rPr lang="zh-TW" altLang="en-US" dirty="0"/>
              <a:t>中。如果存在，使用 </a:t>
            </a:r>
            <a:r>
              <a:rPr lang="en-US" altLang="zh-TW" dirty="0"/>
              <a:t>.index() </a:t>
            </a:r>
            <a:r>
              <a:rPr lang="zh-TW" altLang="en-US" dirty="0"/>
              <a:t>方法獲取該縣市的索引，然後從 </a:t>
            </a:r>
            <a:r>
              <a:rPr lang="en-US" altLang="zh-TW" dirty="0"/>
              <a:t>temperatures </a:t>
            </a:r>
            <a:r>
              <a:rPr lang="zh-TW" altLang="en-US" dirty="0"/>
              <a:t>中取出對應的溫度。</a:t>
            </a:r>
          </a:p>
          <a:p>
            <a:r>
              <a:rPr lang="zh-TW" altLang="en-US" b="1" dirty="0"/>
              <a:t>結果輸出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如果找到了該縣市，輸出其今日的溫度；如果沒有找到，則告知使用者輸入錯誤。</a:t>
            </a:r>
          </a:p>
        </p:txBody>
      </p:sp>
    </p:spTree>
    <p:extLst>
      <p:ext uri="{BB962C8B-B14F-4D97-AF65-F5344CB8AC3E}">
        <p14:creationId xmlns:p14="http://schemas.microsoft.com/office/powerpoint/2010/main" val="2579830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-11025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dirty="0">
                <a:solidFill>
                  <a:schemeClr val="accent5"/>
                </a:solidFill>
              </a:rPr>
              <a:t>專案成果</a:t>
            </a: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描述經過努力之後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你完成的程式長得如何? 可以</a:t>
            </a:r>
            <a:r>
              <a:rPr lang="zh-TW" altLang="en-US" sz="2000" b="1" dirty="0">
                <a:solidFill>
                  <a:schemeClr val="lt1"/>
                </a:solidFill>
              </a:rPr>
              <a:t>用</a:t>
            </a:r>
            <a:r>
              <a:rPr lang="zh-TW" sz="2000" b="1" dirty="0">
                <a:solidFill>
                  <a:schemeClr val="lt1"/>
                </a:solidFill>
              </a:rPr>
              <a:t>圖片貼上來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圖太大就多貼幾頁，</a:t>
            </a:r>
            <a:r>
              <a:rPr lang="zh-TW" altLang="en-US" sz="2000" b="1" dirty="0">
                <a:solidFill>
                  <a:schemeClr val="lt1"/>
                </a:solidFill>
              </a:rPr>
              <a:t>若</a:t>
            </a:r>
            <a:r>
              <a:rPr lang="zh-TW" sz="2000" b="1" dirty="0">
                <a:solidFill>
                  <a:schemeClr val="lt1"/>
                </a:solidFill>
              </a:rPr>
              <a:t>用文字輔助解釋</a:t>
            </a:r>
            <a:r>
              <a:rPr lang="zh-TW" altLang="en-US" sz="2000" b="1" dirty="0">
                <a:solidFill>
                  <a:schemeClr val="lt1"/>
                </a:solidFill>
              </a:rPr>
              <a:t>更好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356000" y="1163562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圖片 6" descr="一張含有 文字, 軟體, 螢幕擷取畫面, 電腦圖示 的圖片&#10;&#10;AI 產生的內容可能不正確。">
            <a:extLst>
              <a:ext uri="{FF2B5EF4-FFF2-40B4-BE49-F238E27FC236}">
                <a16:creationId xmlns:a16="http://schemas.microsoft.com/office/drawing/2014/main" id="{BE2EBB74-57ED-FFCF-D0AB-11868894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200" y="1163562"/>
            <a:ext cx="6117120" cy="382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1BF51F53-97C2-F1F2-0E46-A53E017A4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ED652149-EE0A-24CD-35AF-058797FE3412}"/>
              </a:ext>
            </a:extLst>
          </p:cNvPr>
          <p:cNvSpPr/>
          <p:nvPr/>
        </p:nvSpPr>
        <p:spPr>
          <a:xfrm>
            <a:off x="0" y="-11025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B5EE6475-D30D-2D83-F1D8-1F1D07E7A563}"/>
              </a:ext>
            </a:extLst>
          </p:cNvPr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7CB97784-5866-88A4-C720-EC87969357B3}"/>
              </a:ext>
            </a:extLst>
          </p:cNvPr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dirty="0">
                <a:solidFill>
                  <a:schemeClr val="accent5"/>
                </a:solidFill>
              </a:rPr>
              <a:t>專案成果</a:t>
            </a: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299AE0D7-A5AC-4C2A-7987-2253659FC457}"/>
              </a:ext>
            </a:extLst>
          </p:cNvPr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描述經過努力之後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你完成的程式長得如何? 可以</a:t>
            </a:r>
            <a:r>
              <a:rPr lang="zh-TW" altLang="en-US" sz="2000" b="1" dirty="0">
                <a:solidFill>
                  <a:schemeClr val="lt1"/>
                </a:solidFill>
              </a:rPr>
              <a:t>用</a:t>
            </a:r>
            <a:r>
              <a:rPr lang="zh-TW" sz="2000" b="1" dirty="0">
                <a:solidFill>
                  <a:schemeClr val="lt1"/>
                </a:solidFill>
              </a:rPr>
              <a:t>圖片貼上來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圖太大就多貼幾頁，</a:t>
            </a:r>
            <a:r>
              <a:rPr lang="zh-TW" altLang="en-US" sz="2000" b="1" dirty="0">
                <a:solidFill>
                  <a:schemeClr val="lt1"/>
                </a:solidFill>
              </a:rPr>
              <a:t>若</a:t>
            </a:r>
            <a:r>
              <a:rPr lang="zh-TW" sz="2000" b="1" dirty="0">
                <a:solidFill>
                  <a:schemeClr val="lt1"/>
                </a:solidFill>
              </a:rPr>
              <a:t>用文字輔助解釋</a:t>
            </a:r>
            <a:r>
              <a:rPr lang="zh-TW" altLang="en-US" sz="2000" b="1" dirty="0">
                <a:solidFill>
                  <a:schemeClr val="lt1"/>
                </a:solidFill>
              </a:rPr>
              <a:t>更好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855AD153-BE28-238E-26A3-5EFC22AE8A4F}"/>
              </a:ext>
            </a:extLst>
          </p:cNvPr>
          <p:cNvSpPr/>
          <p:nvPr/>
        </p:nvSpPr>
        <p:spPr>
          <a:xfrm>
            <a:off x="2356000" y="1163562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圖片 7" descr="一張含有 文字, 軟體, 螢幕擷取畫面, 電腦圖示 的圖片&#10;&#10;AI 產生的內容可能不正確。">
            <a:extLst>
              <a:ext uri="{FF2B5EF4-FFF2-40B4-BE49-F238E27FC236}">
                <a16:creationId xmlns:a16="http://schemas.microsoft.com/office/drawing/2014/main" id="{5B5AD10B-7332-6707-9C20-7ED4AE04B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000" y="1163561"/>
            <a:ext cx="6117118" cy="382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68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CEBF169D-9D60-D808-68DD-0A2B12BF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7CCBBA9B-2A80-83CE-7E08-8106893094A3}"/>
              </a:ext>
            </a:extLst>
          </p:cNvPr>
          <p:cNvSpPr/>
          <p:nvPr/>
        </p:nvSpPr>
        <p:spPr>
          <a:xfrm>
            <a:off x="-150375" y="0"/>
            <a:ext cx="926327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2C396AC5-AACC-B7A4-6E8E-C11E0234C766}"/>
              </a:ext>
            </a:extLst>
          </p:cNvPr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6A749942-0971-E84C-3C7D-08804F42179A}"/>
              </a:ext>
            </a:extLst>
          </p:cNvPr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dirty="0">
                <a:solidFill>
                  <a:schemeClr val="accent5"/>
                </a:solidFill>
              </a:rPr>
              <a:t>專案成果</a:t>
            </a: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9EDDDBB0-9B9E-5909-B716-6B732FF9F9B6}"/>
              </a:ext>
            </a:extLst>
          </p:cNvPr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描述經過努力之後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你完成的程式長得如何? 可以</a:t>
            </a:r>
            <a:r>
              <a:rPr lang="zh-TW" altLang="en-US" sz="2000" b="1" dirty="0">
                <a:solidFill>
                  <a:schemeClr val="lt1"/>
                </a:solidFill>
              </a:rPr>
              <a:t>用</a:t>
            </a:r>
            <a:r>
              <a:rPr lang="zh-TW" sz="2000" b="1" dirty="0">
                <a:solidFill>
                  <a:schemeClr val="lt1"/>
                </a:solidFill>
              </a:rPr>
              <a:t>圖片貼上來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圖太大就多貼幾頁，</a:t>
            </a:r>
            <a:r>
              <a:rPr lang="zh-TW" altLang="en-US" sz="2000" b="1" dirty="0">
                <a:solidFill>
                  <a:schemeClr val="lt1"/>
                </a:solidFill>
              </a:rPr>
              <a:t>若</a:t>
            </a:r>
            <a:r>
              <a:rPr lang="zh-TW" sz="2000" b="1" dirty="0">
                <a:solidFill>
                  <a:schemeClr val="lt1"/>
                </a:solidFill>
              </a:rPr>
              <a:t>用文字輔助解釋</a:t>
            </a:r>
            <a:r>
              <a:rPr lang="zh-TW" altLang="en-US" sz="2000" b="1" dirty="0">
                <a:solidFill>
                  <a:schemeClr val="lt1"/>
                </a:solidFill>
              </a:rPr>
              <a:t>更好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37DAF662-07E4-31B6-6091-E5F5BBCBB6D1}"/>
              </a:ext>
            </a:extLst>
          </p:cNvPr>
          <p:cNvSpPr/>
          <p:nvPr/>
        </p:nvSpPr>
        <p:spPr>
          <a:xfrm>
            <a:off x="2355999" y="1172989"/>
            <a:ext cx="6461997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DAA3818-951F-225C-D676-708E3F9CBA9C}"/>
              </a:ext>
            </a:extLst>
          </p:cNvPr>
          <p:cNvSpPr txBox="1"/>
          <p:nvPr/>
        </p:nvSpPr>
        <p:spPr>
          <a:xfrm>
            <a:off x="2392476" y="1372520"/>
            <a:ext cx="64255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def </a:t>
            </a:r>
            <a:r>
              <a:rPr kumimoji="1" lang="en-US" altLang="zh-TW" dirty="0" err="1"/>
              <a:t>determine_quadrant</a:t>
            </a:r>
            <a:r>
              <a:rPr kumimoji="1" lang="en-US" altLang="zh-TW" dirty="0"/>
              <a:t>(x, y):</a:t>
            </a:r>
            <a:r>
              <a:rPr lang="zh-TW" altLang="en-US" dirty="0">
                <a:solidFill>
                  <a:srgbClr val="FFFF00"/>
                </a:solidFill>
              </a:rPr>
              <a:t>根據入的 </a:t>
            </a:r>
            <a:r>
              <a:rPr lang="en-US" altLang="zh-TW" dirty="0">
                <a:solidFill>
                  <a:srgbClr val="FFFF00"/>
                </a:solidFill>
              </a:rPr>
              <a:t>x </a:t>
            </a:r>
            <a:r>
              <a:rPr lang="zh-TW" altLang="en-US" dirty="0">
                <a:solidFill>
                  <a:srgbClr val="FFFF00"/>
                </a:solidFill>
              </a:rPr>
              <a:t>和 </a:t>
            </a:r>
            <a:r>
              <a:rPr lang="en-US" altLang="zh-TW" dirty="0">
                <a:solidFill>
                  <a:srgbClr val="FFFF00"/>
                </a:solidFill>
              </a:rPr>
              <a:t>y </a:t>
            </a:r>
            <a:r>
              <a:rPr lang="zh-TW" altLang="en-US" dirty="0">
                <a:solidFill>
                  <a:srgbClr val="FFFF00"/>
                </a:solidFill>
              </a:rPr>
              <a:t>值，返回該點的位置情況。</a:t>
            </a:r>
          </a:p>
          <a:p>
            <a:r>
              <a:rPr kumimoji="1" lang="zh-TW" altLang="en-US" dirty="0">
                <a:solidFill>
                  <a:srgbClr val="FFFF00"/>
                </a:solidFill>
              </a:rPr>
              <a:t>需要有條件判斷 第一象限和第二第三第四象限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lang="zh-TW" altLang="en-US" dirty="0">
                <a:solidFill>
                  <a:srgbClr val="FFFF00"/>
                </a:solidFill>
              </a:rPr>
              <a:t>用多個 </a:t>
            </a:r>
            <a:r>
              <a:rPr lang="en-US" altLang="zh-TW" dirty="0">
                <a:solidFill>
                  <a:srgbClr val="FFFF00"/>
                </a:solidFill>
              </a:rPr>
              <a:t>if</a:t>
            </a:r>
            <a:r>
              <a:rPr lang="zh-TW" altLang="en-US" dirty="0">
                <a:solidFill>
                  <a:srgbClr val="FFFF00"/>
                </a:solidFill>
              </a:rPr>
              <a:t>和</a:t>
            </a:r>
            <a:r>
              <a:rPr lang="en-US" altLang="zh-TW" dirty="0" err="1">
                <a:solidFill>
                  <a:srgbClr val="FFFF00"/>
                </a:solidFill>
              </a:rPr>
              <a:t>elif</a:t>
            </a:r>
            <a:r>
              <a:rPr lang="en-US" altLang="zh-TW" dirty="0">
                <a:solidFill>
                  <a:srgbClr val="FFFF00"/>
                </a:solidFill>
              </a:rPr>
              <a:t> </a:t>
            </a:r>
            <a:r>
              <a:rPr lang="zh-TW" altLang="en-US" dirty="0">
                <a:solidFill>
                  <a:srgbClr val="FFFF00"/>
                </a:solidFill>
              </a:rPr>
              <a:t>條件語句判斷該點的具體位置。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kumimoji="1" lang="en-US" altLang="zh-TW" dirty="0"/>
              <a:t>   if x == 0 and y == 0:</a:t>
            </a:r>
            <a:r>
              <a:rPr kumimoji="1" lang="zh-TW" altLang="en-US" dirty="0"/>
              <a:t> </a:t>
            </a:r>
            <a:r>
              <a:rPr kumimoji="1" lang="en-US" altLang="zh-TW" dirty="0"/>
              <a:t>return “</a:t>
            </a:r>
            <a:r>
              <a:rPr kumimoji="1" lang="zh-TW" altLang="en-US" dirty="0"/>
              <a:t>原點</a:t>
            </a:r>
            <a:r>
              <a:rPr kumimoji="1" lang="en-US" altLang="zh-TW" dirty="0"/>
              <a:t>”</a:t>
            </a:r>
          </a:p>
          <a:p>
            <a:r>
              <a:rPr kumimoji="1" lang="en-US" altLang="zh-TW" dirty="0"/>
              <a:t>    </a:t>
            </a:r>
            <a:r>
              <a:rPr kumimoji="1" lang="en-US" altLang="zh-TW" dirty="0" err="1"/>
              <a:t>elif</a:t>
            </a:r>
            <a:r>
              <a:rPr kumimoji="1" lang="en-US" altLang="zh-TW" dirty="0"/>
              <a:t> x == 0:</a:t>
            </a:r>
          </a:p>
          <a:p>
            <a:r>
              <a:rPr kumimoji="1" lang="en-US" altLang="zh-TW" dirty="0"/>
              <a:t>        return "y</a:t>
            </a:r>
            <a:r>
              <a:rPr kumimoji="1" lang="zh-TW" altLang="en-US" dirty="0"/>
              <a:t>軸</a:t>
            </a:r>
            <a:r>
              <a:rPr kumimoji="1" lang="en-US" altLang="zh-TW" dirty="0"/>
              <a:t>"</a:t>
            </a:r>
          </a:p>
          <a:p>
            <a:r>
              <a:rPr kumimoji="1" lang="en-US" altLang="zh-TW" dirty="0"/>
              <a:t>    </a:t>
            </a:r>
            <a:r>
              <a:rPr kumimoji="1" lang="en-US" altLang="zh-TW" dirty="0" err="1"/>
              <a:t>elif</a:t>
            </a:r>
            <a:r>
              <a:rPr kumimoji="1" lang="en-US" altLang="zh-TW" dirty="0"/>
              <a:t> y == 0:</a:t>
            </a:r>
          </a:p>
          <a:p>
            <a:r>
              <a:rPr kumimoji="1" lang="en-US" altLang="zh-TW" dirty="0">
                <a:solidFill>
                  <a:srgbClr val="FFFF00"/>
                </a:solidFill>
              </a:rPr>
              <a:t>        return “x</a:t>
            </a:r>
            <a:r>
              <a:rPr kumimoji="1" lang="zh-TW" altLang="en-US" dirty="0">
                <a:solidFill>
                  <a:srgbClr val="FFFF00"/>
                </a:solidFill>
              </a:rPr>
              <a:t>軸</a:t>
            </a:r>
            <a:r>
              <a:rPr kumimoji="1" lang="en-US" altLang="zh-TW" dirty="0">
                <a:solidFill>
                  <a:srgbClr val="FFFF00"/>
                </a:solidFill>
              </a:rPr>
              <a:t>”</a:t>
            </a:r>
            <a:r>
              <a:rPr kumimoji="1" lang="zh-TW" altLang="en-US" dirty="0">
                <a:solidFill>
                  <a:srgbClr val="FFFF00"/>
                </a:solidFill>
              </a:rPr>
              <a:t> </a:t>
            </a:r>
            <a:r>
              <a:rPr lang="zh-TW" altLang="en-US" b="1" dirty="0">
                <a:solidFill>
                  <a:srgbClr val="FFFF00"/>
                </a:solidFill>
              </a:rPr>
              <a:t>原點</a:t>
            </a:r>
            <a:r>
              <a:rPr lang="en-US" altLang="zh-TW" dirty="0">
                <a:solidFill>
                  <a:srgbClr val="FFFF00"/>
                </a:solidFill>
              </a:rPr>
              <a:t>: </a:t>
            </a:r>
            <a:r>
              <a:rPr lang="zh-TW" altLang="en-US" dirty="0">
                <a:solidFill>
                  <a:srgbClr val="FFFF00"/>
                </a:solidFill>
              </a:rPr>
              <a:t>如果 </a:t>
            </a:r>
            <a:r>
              <a:rPr lang="en-US" altLang="zh-TW" dirty="0">
                <a:solidFill>
                  <a:srgbClr val="FFFF00"/>
                </a:solidFill>
              </a:rPr>
              <a:t>x </a:t>
            </a:r>
            <a:r>
              <a:rPr lang="zh-TW" altLang="en-US" dirty="0">
                <a:solidFill>
                  <a:srgbClr val="FFFF00"/>
                </a:solidFill>
              </a:rPr>
              <a:t>和 </a:t>
            </a:r>
            <a:r>
              <a:rPr lang="en-US" altLang="zh-TW" dirty="0">
                <a:solidFill>
                  <a:srgbClr val="FFFF00"/>
                </a:solidFill>
              </a:rPr>
              <a:t>y </a:t>
            </a:r>
            <a:r>
              <a:rPr lang="zh-TW" altLang="en-US" dirty="0">
                <a:solidFill>
                  <a:srgbClr val="FFFF00"/>
                </a:solidFill>
              </a:rPr>
              <a:t>都是 </a:t>
            </a:r>
            <a:r>
              <a:rPr lang="en-US" altLang="zh-TW" dirty="0">
                <a:solidFill>
                  <a:srgbClr val="FFFF00"/>
                </a:solidFill>
              </a:rPr>
              <a:t>0</a:t>
            </a:r>
            <a:r>
              <a:rPr lang="zh-TW" altLang="en-US" dirty="0">
                <a:solidFill>
                  <a:srgbClr val="FFFF00"/>
                </a:solidFill>
              </a:rPr>
              <a:t>，返回 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>
                <a:solidFill>
                  <a:srgbClr val="FFFF00"/>
                </a:solidFill>
              </a:rPr>
              <a:t>原點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kumimoji="1" lang="en-US" altLang="zh-TW" dirty="0"/>
              <a:t>    </a:t>
            </a:r>
            <a:r>
              <a:rPr kumimoji="1" lang="en-US" altLang="zh-TW" dirty="0" err="1"/>
              <a:t>elif</a:t>
            </a:r>
            <a:r>
              <a:rPr kumimoji="1" lang="en-US" altLang="zh-TW" dirty="0"/>
              <a:t> x &gt; 0 and y &gt; 0:</a:t>
            </a:r>
          </a:p>
          <a:p>
            <a:r>
              <a:rPr kumimoji="1" lang="en-US" altLang="zh-TW" dirty="0"/>
              <a:t>        return "</a:t>
            </a:r>
            <a:r>
              <a:rPr kumimoji="1" lang="zh-TW" altLang="en-US" dirty="0"/>
              <a:t>第一象限</a:t>
            </a:r>
            <a:r>
              <a:rPr kumimoji="1" lang="en-US" altLang="zh-TW" dirty="0"/>
              <a:t>"</a:t>
            </a:r>
            <a:r>
              <a:rPr lang="zh-TW" altLang="en-US" b="1" dirty="0">
                <a:solidFill>
                  <a:srgbClr val="FFFF00"/>
                </a:solidFill>
              </a:rPr>
              <a:t>第一象限</a:t>
            </a:r>
            <a:r>
              <a:rPr lang="en-US" altLang="zh-TW" dirty="0">
                <a:solidFill>
                  <a:srgbClr val="FFFF00"/>
                </a:solidFill>
              </a:rPr>
              <a:t>: </a:t>
            </a:r>
            <a:r>
              <a:rPr lang="zh-TW" altLang="en-US" dirty="0">
                <a:solidFill>
                  <a:srgbClr val="FFFF00"/>
                </a:solidFill>
              </a:rPr>
              <a:t>如果 </a:t>
            </a:r>
            <a:r>
              <a:rPr lang="en-US" altLang="zh-TW" dirty="0">
                <a:solidFill>
                  <a:srgbClr val="FFFF00"/>
                </a:solidFill>
              </a:rPr>
              <a:t>x </a:t>
            </a:r>
            <a:r>
              <a:rPr lang="zh-TW" altLang="en-US" dirty="0">
                <a:solidFill>
                  <a:srgbClr val="FFFF00"/>
                </a:solidFill>
              </a:rPr>
              <a:t>和 </a:t>
            </a:r>
            <a:r>
              <a:rPr lang="en-US" altLang="zh-TW" dirty="0">
                <a:solidFill>
                  <a:srgbClr val="FFFF00"/>
                </a:solidFill>
              </a:rPr>
              <a:t>y </a:t>
            </a:r>
            <a:r>
              <a:rPr lang="zh-TW" altLang="en-US" dirty="0">
                <a:solidFill>
                  <a:srgbClr val="FFFF00"/>
                </a:solidFill>
              </a:rPr>
              <a:t>都大於 </a:t>
            </a:r>
            <a:r>
              <a:rPr lang="en-US" altLang="zh-TW" dirty="0">
                <a:solidFill>
                  <a:srgbClr val="FFFF00"/>
                </a:solidFill>
              </a:rPr>
              <a:t>0</a:t>
            </a:r>
            <a:r>
              <a:rPr lang="zh-TW" altLang="en-US" dirty="0">
                <a:solidFill>
                  <a:srgbClr val="FFFF00"/>
                </a:solidFill>
              </a:rPr>
              <a:t>，返回 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>
                <a:solidFill>
                  <a:srgbClr val="FFFF00"/>
                </a:solidFill>
              </a:rPr>
              <a:t>第一象限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>
                <a:solidFill>
                  <a:srgbClr val="FFFF00"/>
                </a:solidFill>
              </a:rPr>
              <a:t>。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kumimoji="1" lang="en-US" altLang="zh-TW" dirty="0"/>
              <a:t>    </a:t>
            </a:r>
            <a:r>
              <a:rPr kumimoji="1" lang="en-US" altLang="zh-TW" dirty="0" err="1"/>
              <a:t>elif</a:t>
            </a:r>
            <a:r>
              <a:rPr kumimoji="1" lang="en-US" altLang="zh-TW" dirty="0"/>
              <a:t> x &lt; 0 and y &gt; 0:</a:t>
            </a:r>
          </a:p>
          <a:p>
            <a:r>
              <a:rPr kumimoji="1" lang="en-US" altLang="zh-TW" dirty="0"/>
              <a:t>       return "</a:t>
            </a:r>
            <a:r>
              <a:rPr kumimoji="1" lang="zh-TW" altLang="en-US" dirty="0"/>
              <a:t>第二象限</a:t>
            </a:r>
            <a:r>
              <a:rPr kumimoji="1" lang="en-US" altLang="zh-TW" dirty="0"/>
              <a:t>"</a:t>
            </a:r>
            <a:r>
              <a:rPr lang="zh-TW" altLang="en-US" b="1" dirty="0">
                <a:solidFill>
                  <a:srgbClr val="FFFF00"/>
                </a:solidFill>
              </a:rPr>
              <a:t>第二象限</a:t>
            </a:r>
            <a:r>
              <a:rPr lang="en-US" altLang="zh-TW" dirty="0">
                <a:solidFill>
                  <a:srgbClr val="FFFF00"/>
                </a:solidFill>
              </a:rPr>
              <a:t>: </a:t>
            </a:r>
            <a:r>
              <a:rPr lang="zh-TW" altLang="en-US" dirty="0">
                <a:solidFill>
                  <a:srgbClr val="FFFF00"/>
                </a:solidFill>
              </a:rPr>
              <a:t>如果 </a:t>
            </a:r>
            <a:r>
              <a:rPr lang="en-US" altLang="zh-TW" dirty="0">
                <a:solidFill>
                  <a:srgbClr val="FFFF00"/>
                </a:solidFill>
              </a:rPr>
              <a:t>x </a:t>
            </a:r>
            <a:r>
              <a:rPr lang="zh-TW" altLang="en-US" dirty="0">
                <a:solidFill>
                  <a:srgbClr val="FFFF00"/>
                </a:solidFill>
              </a:rPr>
              <a:t>小於 </a:t>
            </a:r>
            <a:r>
              <a:rPr lang="en-US" altLang="zh-TW" dirty="0">
                <a:solidFill>
                  <a:srgbClr val="FFFF00"/>
                </a:solidFill>
              </a:rPr>
              <a:t>0 </a:t>
            </a:r>
            <a:r>
              <a:rPr lang="zh-TW" altLang="en-US" dirty="0">
                <a:solidFill>
                  <a:srgbClr val="FFFF00"/>
                </a:solidFill>
              </a:rPr>
              <a:t>且 </a:t>
            </a:r>
            <a:r>
              <a:rPr lang="en-US" altLang="zh-TW" dirty="0">
                <a:solidFill>
                  <a:srgbClr val="FFFF00"/>
                </a:solidFill>
              </a:rPr>
              <a:t>y </a:t>
            </a:r>
            <a:r>
              <a:rPr lang="zh-TW" altLang="en-US" dirty="0">
                <a:solidFill>
                  <a:srgbClr val="FFFF00"/>
                </a:solidFill>
              </a:rPr>
              <a:t>大於 </a:t>
            </a:r>
            <a:r>
              <a:rPr lang="en-US" altLang="zh-TW" dirty="0">
                <a:solidFill>
                  <a:srgbClr val="FFFF00"/>
                </a:solidFill>
              </a:rPr>
              <a:t>0</a:t>
            </a:r>
            <a:r>
              <a:rPr lang="zh-TW" altLang="en-US" dirty="0">
                <a:solidFill>
                  <a:srgbClr val="FFFF00"/>
                </a:solidFill>
              </a:rPr>
              <a:t>，返回 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>
                <a:solidFill>
                  <a:srgbClr val="FFFF00"/>
                </a:solidFill>
              </a:rPr>
              <a:t>第二象限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kumimoji="1" lang="en-US" altLang="zh-TW" dirty="0"/>
              <a:t>    </a:t>
            </a:r>
            <a:r>
              <a:rPr kumimoji="1" lang="en-US" altLang="zh-TW" dirty="0" err="1"/>
              <a:t>elif</a:t>
            </a:r>
            <a:r>
              <a:rPr kumimoji="1" lang="en-US" altLang="zh-TW" dirty="0"/>
              <a:t> x &lt; 0 and y &lt; 0:</a:t>
            </a:r>
          </a:p>
          <a:p>
            <a:r>
              <a:rPr kumimoji="1" lang="en-US" altLang="zh-TW" dirty="0"/>
              <a:t>        return "</a:t>
            </a:r>
            <a:r>
              <a:rPr kumimoji="1" lang="zh-TW" altLang="en-US" dirty="0"/>
              <a:t>第三象限</a:t>
            </a:r>
            <a:r>
              <a:rPr kumimoji="1" lang="en-US" altLang="zh-TW" dirty="0"/>
              <a:t>"</a:t>
            </a:r>
            <a:r>
              <a:rPr lang="zh-TW" altLang="en-US" b="1" dirty="0">
                <a:solidFill>
                  <a:srgbClr val="FFFF00"/>
                </a:solidFill>
              </a:rPr>
              <a:t>第三象限</a:t>
            </a:r>
            <a:r>
              <a:rPr lang="en-US" altLang="zh-TW" dirty="0">
                <a:solidFill>
                  <a:srgbClr val="FFFF00"/>
                </a:solidFill>
              </a:rPr>
              <a:t>: </a:t>
            </a:r>
            <a:r>
              <a:rPr lang="zh-TW" altLang="en-US" dirty="0">
                <a:solidFill>
                  <a:srgbClr val="FFFF00"/>
                </a:solidFill>
              </a:rPr>
              <a:t>如果 </a:t>
            </a:r>
            <a:r>
              <a:rPr lang="en-US" altLang="zh-TW" dirty="0">
                <a:solidFill>
                  <a:srgbClr val="FFFF00"/>
                </a:solidFill>
              </a:rPr>
              <a:t>x </a:t>
            </a:r>
            <a:r>
              <a:rPr lang="zh-TW" altLang="en-US" dirty="0">
                <a:solidFill>
                  <a:srgbClr val="FFFF00"/>
                </a:solidFill>
              </a:rPr>
              <a:t>和 </a:t>
            </a:r>
            <a:r>
              <a:rPr lang="en-US" altLang="zh-TW" dirty="0">
                <a:solidFill>
                  <a:srgbClr val="FFFF00"/>
                </a:solidFill>
              </a:rPr>
              <a:t>y </a:t>
            </a:r>
            <a:r>
              <a:rPr lang="zh-TW" altLang="en-US" dirty="0">
                <a:solidFill>
                  <a:srgbClr val="FFFF00"/>
                </a:solidFill>
              </a:rPr>
              <a:t>都小於 </a:t>
            </a:r>
            <a:r>
              <a:rPr lang="en-US" altLang="zh-TW" dirty="0">
                <a:solidFill>
                  <a:srgbClr val="FFFF00"/>
                </a:solidFill>
              </a:rPr>
              <a:t>0</a:t>
            </a:r>
            <a:r>
              <a:rPr lang="zh-TW" altLang="en-US" dirty="0">
                <a:solidFill>
                  <a:srgbClr val="FFFF00"/>
                </a:solidFill>
              </a:rPr>
              <a:t>，返回 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>
                <a:solidFill>
                  <a:srgbClr val="FFFF00"/>
                </a:solidFill>
              </a:rPr>
              <a:t>第三象限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/>
              <a:t>。</a:t>
            </a:r>
            <a:endParaRPr kumimoji="1" lang="en-US" altLang="zh-TW" dirty="0"/>
          </a:p>
          <a:p>
            <a:r>
              <a:rPr kumimoji="1" lang="en-US" altLang="zh-TW" dirty="0"/>
              <a:t>    </a:t>
            </a:r>
            <a:r>
              <a:rPr kumimoji="1" lang="en-US" altLang="zh-TW" dirty="0" err="1"/>
              <a:t>elif</a:t>
            </a:r>
            <a:r>
              <a:rPr kumimoji="1" lang="en-US" altLang="zh-TW" dirty="0"/>
              <a:t> x &gt; 0 and y &lt; 0:</a:t>
            </a:r>
          </a:p>
          <a:p>
            <a:r>
              <a:rPr kumimoji="1" lang="en-US" altLang="zh-TW" dirty="0"/>
              <a:t>        return "</a:t>
            </a:r>
            <a:r>
              <a:rPr kumimoji="1" lang="zh-TW" altLang="en-US" dirty="0"/>
              <a:t>第四象限</a:t>
            </a:r>
            <a:r>
              <a:rPr kumimoji="1" lang="en-US" altLang="zh-TW" dirty="0"/>
              <a:t>"</a:t>
            </a:r>
            <a:r>
              <a:rPr lang="zh-TW" altLang="en-US" b="1" dirty="0">
                <a:solidFill>
                  <a:srgbClr val="FFFF00"/>
                </a:solidFill>
              </a:rPr>
              <a:t>第四象限</a:t>
            </a:r>
            <a:r>
              <a:rPr lang="en-US" altLang="zh-TW" dirty="0">
                <a:solidFill>
                  <a:srgbClr val="FFFF00"/>
                </a:solidFill>
              </a:rPr>
              <a:t>: </a:t>
            </a:r>
            <a:r>
              <a:rPr lang="zh-TW" altLang="en-US" dirty="0">
                <a:solidFill>
                  <a:srgbClr val="FFFF00"/>
                </a:solidFill>
              </a:rPr>
              <a:t>如果 </a:t>
            </a:r>
            <a:r>
              <a:rPr lang="en-US" altLang="zh-TW" dirty="0">
                <a:solidFill>
                  <a:srgbClr val="FFFF00"/>
                </a:solidFill>
              </a:rPr>
              <a:t>x </a:t>
            </a:r>
            <a:r>
              <a:rPr lang="zh-TW" altLang="en-US" dirty="0">
                <a:solidFill>
                  <a:srgbClr val="FFFF00"/>
                </a:solidFill>
              </a:rPr>
              <a:t>大於 </a:t>
            </a:r>
            <a:r>
              <a:rPr lang="en-US" altLang="zh-TW" dirty="0">
                <a:solidFill>
                  <a:srgbClr val="FFFF00"/>
                </a:solidFill>
              </a:rPr>
              <a:t>0 </a:t>
            </a:r>
            <a:r>
              <a:rPr lang="zh-TW" altLang="en-US" dirty="0">
                <a:solidFill>
                  <a:srgbClr val="FFFF00"/>
                </a:solidFill>
              </a:rPr>
              <a:t>且 </a:t>
            </a:r>
            <a:r>
              <a:rPr lang="en-US" altLang="zh-TW" dirty="0">
                <a:solidFill>
                  <a:srgbClr val="FFFF00"/>
                </a:solidFill>
              </a:rPr>
              <a:t>y </a:t>
            </a:r>
            <a:r>
              <a:rPr lang="zh-TW" altLang="en-US" dirty="0">
                <a:solidFill>
                  <a:srgbClr val="FFFF00"/>
                </a:solidFill>
              </a:rPr>
              <a:t>小於 </a:t>
            </a:r>
            <a:r>
              <a:rPr lang="en-US" altLang="zh-TW" dirty="0">
                <a:solidFill>
                  <a:srgbClr val="FFFF00"/>
                </a:solidFill>
              </a:rPr>
              <a:t>0</a:t>
            </a:r>
            <a:r>
              <a:rPr lang="zh-TW" altLang="en-US" dirty="0">
                <a:solidFill>
                  <a:srgbClr val="FFFF00"/>
                </a:solidFill>
              </a:rPr>
              <a:t>，返回 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>
                <a:solidFill>
                  <a:srgbClr val="FFFF00"/>
                </a:solidFill>
              </a:rPr>
              <a:t>第四象限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endParaRPr kumimoji="1" lang="en-US" altLang="zh-TW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447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FD875A85-5437-0403-9412-06E1C87B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E337FB69-EA5D-B027-AA31-71EBD45EA89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79A77FAD-A830-A067-D159-30EBD1E4DE46}"/>
              </a:ext>
            </a:extLst>
          </p:cNvPr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B86F0021-A7D3-02EC-7E0E-F7FD7482ED20}"/>
              </a:ext>
            </a:extLst>
          </p:cNvPr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dirty="0">
                <a:solidFill>
                  <a:schemeClr val="accent5"/>
                </a:solidFill>
              </a:rPr>
              <a:t>專案成果</a:t>
            </a: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48091DF1-8B96-08F6-E032-14DD82E8321C}"/>
              </a:ext>
            </a:extLst>
          </p:cNvPr>
          <p:cNvSpPr txBox="1"/>
          <p:nvPr/>
        </p:nvSpPr>
        <p:spPr>
          <a:xfrm>
            <a:off x="2252633" y="188626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描述經過努力之後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你完成的程式長得如何? 可以</a:t>
            </a:r>
            <a:r>
              <a:rPr lang="zh-TW" altLang="en-US" sz="2000" b="1" dirty="0">
                <a:solidFill>
                  <a:schemeClr val="lt1"/>
                </a:solidFill>
              </a:rPr>
              <a:t>用</a:t>
            </a:r>
            <a:r>
              <a:rPr lang="zh-TW" sz="2000" b="1" dirty="0">
                <a:solidFill>
                  <a:schemeClr val="lt1"/>
                </a:solidFill>
              </a:rPr>
              <a:t>圖片貼上來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圖太大就多貼幾頁，</a:t>
            </a:r>
            <a:r>
              <a:rPr lang="zh-TW" altLang="en-US" sz="2000" b="1" dirty="0">
                <a:solidFill>
                  <a:schemeClr val="lt1"/>
                </a:solidFill>
              </a:rPr>
              <a:t>若</a:t>
            </a:r>
            <a:r>
              <a:rPr lang="zh-TW" sz="2000" b="1" dirty="0">
                <a:solidFill>
                  <a:schemeClr val="lt1"/>
                </a:solidFill>
              </a:rPr>
              <a:t>用文字輔助解釋</a:t>
            </a:r>
            <a:r>
              <a:rPr lang="zh-TW" altLang="en-US" sz="2000" b="1" dirty="0">
                <a:solidFill>
                  <a:schemeClr val="lt1"/>
                </a:solidFill>
              </a:rPr>
              <a:t>更好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3FD181D2-2DA5-8E0D-F922-15CEAB810C14}"/>
              </a:ext>
            </a:extLst>
          </p:cNvPr>
          <p:cNvSpPr/>
          <p:nvPr/>
        </p:nvSpPr>
        <p:spPr>
          <a:xfrm>
            <a:off x="2356000" y="1163562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2B22841-E8CB-C22E-8047-3DAB966DC246}"/>
              </a:ext>
            </a:extLst>
          </p:cNvPr>
          <p:cNvSpPr txBox="1"/>
          <p:nvPr/>
        </p:nvSpPr>
        <p:spPr>
          <a:xfrm>
            <a:off x="2392475" y="1493871"/>
            <a:ext cx="61041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input_str</a:t>
            </a:r>
            <a:r>
              <a:rPr kumimoji="1" lang="en-US" altLang="zh-TW" dirty="0"/>
              <a:t> = input(“</a:t>
            </a:r>
            <a:r>
              <a:rPr kumimoji="1" lang="zh-TW" altLang="en-US" dirty="0"/>
              <a:t>請輸入座標 </a:t>
            </a:r>
            <a:r>
              <a:rPr kumimoji="1" lang="en-US" altLang="zh-TW" dirty="0"/>
              <a:t>(x, y): ”)</a:t>
            </a:r>
            <a:r>
              <a:rPr lang="zh-TW" altLang="en-US" dirty="0">
                <a:solidFill>
                  <a:srgbClr val="FFFF00"/>
                </a:solidFill>
              </a:rPr>
              <a:t>使用 </a:t>
            </a:r>
            <a:r>
              <a:rPr lang="en-US" altLang="zh-TW" dirty="0">
                <a:solidFill>
                  <a:srgbClr val="FFFF00"/>
                </a:solidFill>
              </a:rPr>
              <a:t>input() </a:t>
            </a:r>
            <a:r>
              <a:rPr lang="zh-TW" altLang="en-US" dirty="0">
                <a:solidFill>
                  <a:srgbClr val="FFFF00"/>
                </a:solidFill>
              </a:rPr>
              <a:t>函數請求使用者輸入座標，格式為 </a:t>
            </a:r>
            <a:r>
              <a:rPr lang="en-US" altLang="zh-TW" dirty="0">
                <a:solidFill>
                  <a:srgbClr val="FFFF00"/>
                </a:solidFill>
              </a:rPr>
              <a:t>"(x, y)"</a:t>
            </a:r>
            <a:r>
              <a:rPr lang="zh-TW" altLang="en-US" dirty="0">
                <a:solidFill>
                  <a:srgbClr val="FFFF00"/>
                </a:solidFill>
              </a:rPr>
              <a:t>。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kumimoji="1" lang="en-US" altLang="zh-TW" dirty="0" err="1"/>
              <a:t>input_str</a:t>
            </a:r>
            <a:r>
              <a:rPr kumimoji="1" lang="en-US" altLang="zh-TW" dirty="0"/>
              <a:t> = </a:t>
            </a:r>
            <a:r>
              <a:rPr kumimoji="1" lang="en-US" altLang="zh-TW" dirty="0" err="1"/>
              <a:t>input_str.replace</a:t>
            </a:r>
            <a:r>
              <a:rPr kumimoji="1" lang="en-US" altLang="zh-TW" dirty="0"/>
              <a:t>(" ", "").replace("(", "").replace(")", "")</a:t>
            </a:r>
          </a:p>
          <a:p>
            <a:r>
              <a:rPr lang="zh-TW" altLang="en-US" dirty="0">
                <a:solidFill>
                  <a:srgbClr val="FFFF00"/>
                </a:solidFill>
              </a:rPr>
              <a:t>將輸入的字串進行處理，去除空格及括號，利用 </a:t>
            </a:r>
            <a:r>
              <a:rPr lang="en-US" altLang="zh-TW" dirty="0">
                <a:solidFill>
                  <a:srgbClr val="FFFF00"/>
                </a:solidFill>
              </a:rPr>
              <a:t>replace() </a:t>
            </a:r>
            <a:r>
              <a:rPr lang="zh-TW" altLang="en-US" dirty="0">
                <a:solidFill>
                  <a:srgbClr val="FFFF00"/>
                </a:solidFill>
              </a:rPr>
              <a:t>方法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kumimoji="1" lang="en-US" altLang="zh-TW" dirty="0"/>
              <a:t>coordinates = </a:t>
            </a:r>
            <a:r>
              <a:rPr kumimoji="1" lang="en-US" altLang="zh-TW" dirty="0" err="1"/>
              <a:t>input_str.split</a:t>
            </a:r>
            <a:r>
              <a:rPr kumimoji="1" lang="en-US" altLang="zh-TW" dirty="0"/>
              <a:t>(",")</a:t>
            </a:r>
          </a:p>
          <a:p>
            <a:pPr lvl="1"/>
            <a:r>
              <a:rPr lang="zh-TW" altLang="en-US" dirty="0">
                <a:solidFill>
                  <a:srgbClr val="FFFF00"/>
                </a:solidFill>
              </a:rPr>
              <a:t>使用 </a:t>
            </a:r>
            <a:r>
              <a:rPr lang="en-US" altLang="zh-TW" dirty="0">
                <a:solidFill>
                  <a:srgbClr val="FFFF00"/>
                </a:solidFill>
              </a:rPr>
              <a:t>split(",") </a:t>
            </a:r>
            <a:r>
              <a:rPr lang="zh-TW" altLang="en-US" dirty="0">
                <a:solidFill>
                  <a:srgbClr val="FFFF00"/>
                </a:solidFill>
              </a:rPr>
              <a:t>方法以逗號分隔，將字符串轉換為列表 </a:t>
            </a:r>
            <a:r>
              <a:rPr lang="en-US" altLang="zh-TW" dirty="0">
                <a:solidFill>
                  <a:srgbClr val="FFFF00"/>
                </a:solidFill>
              </a:rPr>
              <a:t>coordinates</a:t>
            </a:r>
            <a:r>
              <a:rPr lang="zh-TW" altLang="en-US" dirty="0">
                <a:solidFill>
                  <a:srgbClr val="FFFF00"/>
                </a:solidFill>
              </a:rPr>
              <a:t>。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kumimoji="1" lang="en-US" altLang="zh-TW" dirty="0"/>
              <a:t>if </a:t>
            </a:r>
            <a:r>
              <a:rPr kumimoji="1" lang="en-US" altLang="zh-TW" dirty="0" err="1"/>
              <a:t>len</a:t>
            </a:r>
            <a:r>
              <a:rPr kumimoji="1" lang="en-US" altLang="zh-TW" dirty="0"/>
              <a:t>(coordinates) &gt;= 2:</a:t>
            </a:r>
          </a:p>
          <a:p>
            <a:r>
              <a:rPr kumimoji="1" lang="en-US" altLang="zh-TW" dirty="0"/>
              <a:t>    x = float(coordinates[0])</a:t>
            </a:r>
          </a:p>
          <a:p>
            <a:r>
              <a:rPr kumimoji="1" lang="en-US" altLang="zh-TW" dirty="0"/>
              <a:t>    y = float(coordinates[1])</a:t>
            </a:r>
          </a:p>
          <a:p>
            <a:r>
              <a:rPr kumimoji="1" lang="en-US" altLang="zh-TW" dirty="0"/>
              <a:t>else:</a:t>
            </a:r>
          </a:p>
          <a:p>
            <a:r>
              <a:rPr kumimoji="1" lang="en-US" altLang="zh-TW" dirty="0"/>
              <a:t>    x = float(input("</a:t>
            </a:r>
            <a:r>
              <a:rPr kumimoji="1" lang="zh-TW" altLang="en-US" dirty="0"/>
              <a:t>請輸入 </a:t>
            </a:r>
            <a:r>
              <a:rPr kumimoji="1" lang="en-US" altLang="zh-TW" dirty="0"/>
              <a:t>x </a:t>
            </a:r>
            <a:r>
              <a:rPr kumimoji="1" lang="zh-TW" altLang="en-US" dirty="0"/>
              <a:t>座標</a:t>
            </a:r>
            <a:r>
              <a:rPr kumimoji="1" lang="en-US" altLang="zh-TW" dirty="0"/>
              <a:t>: "))</a:t>
            </a:r>
          </a:p>
          <a:p>
            <a:r>
              <a:rPr kumimoji="1" lang="en-US" altLang="zh-TW" dirty="0"/>
              <a:t>    y = float(input("</a:t>
            </a:r>
            <a:r>
              <a:rPr kumimoji="1" lang="zh-TW" altLang="en-US" dirty="0"/>
              <a:t>請輸入 </a:t>
            </a:r>
            <a:r>
              <a:rPr kumimoji="1" lang="en-US" altLang="zh-TW" dirty="0"/>
              <a:t>y </a:t>
            </a:r>
            <a:r>
              <a:rPr kumimoji="1" lang="zh-TW" altLang="en-US" dirty="0"/>
              <a:t>座標</a:t>
            </a:r>
            <a:r>
              <a:rPr kumimoji="1" lang="en-US" altLang="zh-TW" dirty="0"/>
              <a:t>: "))</a:t>
            </a:r>
          </a:p>
          <a:p>
            <a:r>
              <a:rPr kumimoji="1" lang="en-US" altLang="zh-TW" dirty="0"/>
              <a:t>result = </a:t>
            </a:r>
            <a:r>
              <a:rPr kumimoji="1" lang="en-US" altLang="zh-TW" dirty="0" err="1"/>
              <a:t>determine_quadrant</a:t>
            </a:r>
            <a:r>
              <a:rPr kumimoji="1" lang="en-US" altLang="zh-TW" dirty="0"/>
              <a:t>(x, y)</a:t>
            </a:r>
          </a:p>
          <a:p>
            <a:r>
              <a:rPr lang="zh-TW" altLang="en-US" dirty="0">
                <a:solidFill>
                  <a:srgbClr val="FFFF00"/>
                </a:solidFill>
              </a:rPr>
              <a:t>調用 </a:t>
            </a:r>
            <a:r>
              <a:rPr lang="en-US" altLang="zh-TW" dirty="0" err="1">
                <a:solidFill>
                  <a:srgbClr val="FFFF00"/>
                </a:solidFill>
              </a:rPr>
              <a:t>determine_quadrant</a:t>
            </a:r>
            <a:r>
              <a:rPr lang="en-US" altLang="zh-TW" dirty="0">
                <a:solidFill>
                  <a:srgbClr val="FFFF00"/>
                </a:solidFill>
              </a:rPr>
              <a:t>(x, y) </a:t>
            </a:r>
            <a:r>
              <a:rPr lang="zh-TW" altLang="en-US" dirty="0">
                <a:solidFill>
                  <a:srgbClr val="FFFF00"/>
                </a:solidFill>
              </a:rPr>
              <a:t>函數，將 </a:t>
            </a:r>
            <a:r>
              <a:rPr lang="en-US" altLang="zh-TW" dirty="0">
                <a:solidFill>
                  <a:srgbClr val="FFFF00"/>
                </a:solidFill>
              </a:rPr>
              <a:t>x </a:t>
            </a:r>
            <a:r>
              <a:rPr lang="zh-TW" altLang="en-US" dirty="0">
                <a:solidFill>
                  <a:srgbClr val="FFFF00"/>
                </a:solidFill>
              </a:rPr>
              <a:t>和 </a:t>
            </a:r>
            <a:r>
              <a:rPr lang="en-US" altLang="zh-TW" dirty="0">
                <a:solidFill>
                  <a:srgbClr val="FFFF00"/>
                </a:solidFill>
              </a:rPr>
              <a:t>y </a:t>
            </a:r>
            <a:r>
              <a:rPr lang="zh-TW" altLang="en-US" dirty="0">
                <a:solidFill>
                  <a:srgbClr val="FFFF00"/>
                </a:solidFill>
              </a:rPr>
              <a:t>傳入，以獲得結果。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r>
              <a:rPr kumimoji="1" lang="en-US" altLang="zh-TW" dirty="0"/>
              <a:t>print(f"</a:t>
            </a:r>
            <a:r>
              <a:rPr kumimoji="1" lang="zh-TW" altLang="en-US" dirty="0"/>
              <a:t>該點位於</a:t>
            </a:r>
            <a:r>
              <a:rPr kumimoji="1" lang="en-US" altLang="zh-TW" dirty="0"/>
              <a:t>: {result}")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8625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9A374D17-1478-91A8-C0D5-2C37BCF2A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F8EAEB0E-6082-7C7E-B6BE-D3CBF00B0C68}"/>
              </a:ext>
            </a:extLst>
          </p:cNvPr>
          <p:cNvSpPr/>
          <p:nvPr/>
        </p:nvSpPr>
        <p:spPr>
          <a:xfrm>
            <a:off x="0" y="-11025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4ECC47EA-0257-F7D2-C61B-92F03B586AC4}"/>
              </a:ext>
            </a:extLst>
          </p:cNvPr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0C76EE39-1EC2-17A8-A698-EAE5C75A6A51}"/>
              </a:ext>
            </a:extLst>
          </p:cNvPr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dirty="0">
                <a:solidFill>
                  <a:schemeClr val="accent5"/>
                </a:solidFill>
              </a:rPr>
              <a:t>專案成果</a:t>
            </a: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4DEA2E8B-4E76-C95F-277A-E383F477FB6A}"/>
              </a:ext>
            </a:extLst>
          </p:cNvPr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描述經過努力之後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你完成的程式長得如何? 可以</a:t>
            </a:r>
            <a:r>
              <a:rPr lang="zh-TW" altLang="en-US" sz="2000" b="1" dirty="0">
                <a:solidFill>
                  <a:schemeClr val="lt1"/>
                </a:solidFill>
              </a:rPr>
              <a:t>用</a:t>
            </a:r>
            <a:r>
              <a:rPr lang="zh-TW" sz="2000" b="1" dirty="0">
                <a:solidFill>
                  <a:schemeClr val="lt1"/>
                </a:solidFill>
              </a:rPr>
              <a:t>圖片貼上來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圖太大就多貼幾頁，</a:t>
            </a:r>
            <a:r>
              <a:rPr lang="zh-TW" altLang="en-US" sz="2000" b="1" dirty="0">
                <a:solidFill>
                  <a:schemeClr val="lt1"/>
                </a:solidFill>
              </a:rPr>
              <a:t>若</a:t>
            </a:r>
            <a:r>
              <a:rPr lang="zh-TW" sz="2000" b="1" dirty="0">
                <a:solidFill>
                  <a:schemeClr val="lt1"/>
                </a:solidFill>
              </a:rPr>
              <a:t>用文字輔助解釋</a:t>
            </a:r>
            <a:r>
              <a:rPr lang="zh-TW" altLang="en-US" sz="2000" b="1" dirty="0">
                <a:solidFill>
                  <a:schemeClr val="lt1"/>
                </a:solidFill>
              </a:rPr>
              <a:t>更好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D3E54F76-68BD-2206-E91C-8CFFBA1A1BAD}"/>
              </a:ext>
            </a:extLst>
          </p:cNvPr>
          <p:cNvSpPr/>
          <p:nvPr/>
        </p:nvSpPr>
        <p:spPr>
          <a:xfrm>
            <a:off x="2356000" y="1163562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圖片 2" descr="一張含有 螢幕擷取畫面, 文字, 軟體, 電腦圖示 的圖片&#10;&#10;AI 產生的內容可能不正確。">
            <a:extLst>
              <a:ext uri="{FF2B5EF4-FFF2-40B4-BE49-F238E27FC236}">
                <a16:creationId xmlns:a16="http://schemas.microsoft.com/office/drawing/2014/main" id="{5D66A359-D3A0-FCEF-8CFE-5373D7F6F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000" y="1163562"/>
            <a:ext cx="6117120" cy="38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42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66842103-4227-8644-5CD5-83232E38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E7935032-8A41-1545-0F30-530B5FECB5B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9CA4E948-AFED-D5C1-41C8-5851BB701BDF}"/>
              </a:ext>
            </a:extLst>
          </p:cNvPr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7675BB25-5CD5-DBCD-E77A-5E4728EF0565}"/>
              </a:ext>
            </a:extLst>
          </p:cNvPr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dirty="0">
                <a:solidFill>
                  <a:schemeClr val="accent5"/>
                </a:solidFill>
              </a:rPr>
              <a:t>專案成果</a:t>
            </a: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4F0146E7-5987-9696-DAC2-6300F370BAE7}"/>
              </a:ext>
            </a:extLst>
          </p:cNvPr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描述經過努力之後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你完成的程式長得如何? 可以</a:t>
            </a:r>
            <a:r>
              <a:rPr lang="zh-TW" altLang="en-US" sz="2000" b="1" dirty="0">
                <a:solidFill>
                  <a:schemeClr val="lt1"/>
                </a:solidFill>
              </a:rPr>
              <a:t>用</a:t>
            </a:r>
            <a:r>
              <a:rPr lang="zh-TW" sz="2000" b="1" dirty="0">
                <a:solidFill>
                  <a:schemeClr val="lt1"/>
                </a:solidFill>
              </a:rPr>
              <a:t>圖片貼上來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圖太大就多貼幾頁，</a:t>
            </a:r>
            <a:r>
              <a:rPr lang="zh-TW" altLang="en-US" sz="2000" b="1" dirty="0">
                <a:solidFill>
                  <a:schemeClr val="lt1"/>
                </a:solidFill>
              </a:rPr>
              <a:t>若</a:t>
            </a:r>
            <a:r>
              <a:rPr lang="zh-TW" sz="2000" b="1" dirty="0">
                <a:solidFill>
                  <a:schemeClr val="lt1"/>
                </a:solidFill>
              </a:rPr>
              <a:t>用文字輔助解釋</a:t>
            </a:r>
            <a:r>
              <a:rPr lang="zh-TW" altLang="en-US" sz="2000" b="1" dirty="0">
                <a:solidFill>
                  <a:schemeClr val="lt1"/>
                </a:solidFill>
              </a:rPr>
              <a:t>更好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51BE2312-8C90-1A6D-88C9-C3E26ADA9F6C}"/>
              </a:ext>
            </a:extLst>
          </p:cNvPr>
          <p:cNvSpPr/>
          <p:nvPr/>
        </p:nvSpPr>
        <p:spPr>
          <a:xfrm>
            <a:off x="2356000" y="1163562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圖片 2" descr="一張含有 螢幕擷取畫面, 文字, 軟體, 電腦圖示 的圖片&#10;&#10;AI 產生的內容可能不正確。">
            <a:extLst>
              <a:ext uri="{FF2B5EF4-FFF2-40B4-BE49-F238E27FC236}">
                <a16:creationId xmlns:a16="http://schemas.microsoft.com/office/drawing/2014/main" id="{0D151DB5-DF32-F333-8A55-086EB6FBB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000" y="1163562"/>
            <a:ext cx="6117120" cy="38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00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BB5917B3-CA6C-6632-F6EE-8E805A64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899C3156-BAFF-0A79-B15E-3A18568629F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39519FFC-8CC8-19D9-3B57-1ECE3CA4C540}"/>
              </a:ext>
            </a:extLst>
          </p:cNvPr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B068FE47-413B-B16C-312D-0EE6782CF3A6}"/>
              </a:ext>
            </a:extLst>
          </p:cNvPr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dirty="0">
                <a:solidFill>
                  <a:schemeClr val="accent5"/>
                </a:solidFill>
              </a:rPr>
              <a:t>專案成果</a:t>
            </a: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75005497-CB09-FB9D-3852-2CD29586D44A}"/>
              </a:ext>
            </a:extLst>
          </p:cNvPr>
          <p:cNvSpPr txBox="1"/>
          <p:nvPr/>
        </p:nvSpPr>
        <p:spPr>
          <a:xfrm>
            <a:off x="2252633" y="188626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描述經過努力之後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你完成的程式長得如何? 可以</a:t>
            </a:r>
            <a:r>
              <a:rPr lang="zh-TW" altLang="en-US" sz="2000" b="1" dirty="0">
                <a:solidFill>
                  <a:schemeClr val="lt1"/>
                </a:solidFill>
              </a:rPr>
              <a:t>用</a:t>
            </a:r>
            <a:r>
              <a:rPr lang="zh-TW" sz="2000" b="1" dirty="0">
                <a:solidFill>
                  <a:schemeClr val="lt1"/>
                </a:solidFill>
              </a:rPr>
              <a:t>圖片貼上來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圖太大就多貼幾頁，</a:t>
            </a:r>
            <a:r>
              <a:rPr lang="zh-TW" altLang="en-US" sz="2000" b="1" dirty="0">
                <a:solidFill>
                  <a:schemeClr val="lt1"/>
                </a:solidFill>
              </a:rPr>
              <a:t>若</a:t>
            </a:r>
            <a:r>
              <a:rPr lang="zh-TW" sz="2000" b="1" dirty="0">
                <a:solidFill>
                  <a:schemeClr val="lt1"/>
                </a:solidFill>
              </a:rPr>
              <a:t>用文字輔助解釋</a:t>
            </a:r>
            <a:r>
              <a:rPr lang="zh-TW" altLang="en-US" sz="2000" b="1" dirty="0">
                <a:solidFill>
                  <a:schemeClr val="lt1"/>
                </a:solidFill>
              </a:rPr>
              <a:t>更好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274CA483-4015-C2D3-0CAD-5FB3D5A79D61}"/>
              </a:ext>
            </a:extLst>
          </p:cNvPr>
          <p:cNvSpPr/>
          <p:nvPr/>
        </p:nvSpPr>
        <p:spPr>
          <a:xfrm>
            <a:off x="2356000" y="1163562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5571883-FAF4-1CA1-D68F-FDFEC0BA1A1A}"/>
              </a:ext>
            </a:extLst>
          </p:cNvPr>
          <p:cNvSpPr txBox="1"/>
          <p:nvPr/>
        </p:nvSpPr>
        <p:spPr>
          <a:xfrm>
            <a:off x="2392475" y="1493871"/>
            <a:ext cx="61041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# </a:t>
            </a:r>
            <a:r>
              <a:rPr kumimoji="1" lang="zh-TW" altLang="en-US" dirty="0"/>
              <a:t>台灣縣市和今日溫度的對應</a:t>
            </a:r>
          </a:p>
          <a:p>
            <a:r>
              <a:rPr kumimoji="1" lang="en-US" altLang="zh-TW" dirty="0"/>
              <a:t>cities = ["</a:t>
            </a:r>
            <a:r>
              <a:rPr kumimoji="1" lang="zh-TW" altLang="en-US" dirty="0"/>
              <a:t>台北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新北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桃園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台中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台南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高雄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宜蘭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花蓮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嘉義</a:t>
            </a:r>
            <a:r>
              <a:rPr kumimoji="1" lang="en-US" altLang="zh-TW" dirty="0"/>
              <a:t>", "</a:t>
            </a:r>
            <a:r>
              <a:rPr kumimoji="1" lang="zh-TW" altLang="en-US" dirty="0"/>
              <a:t>屏東</a:t>
            </a:r>
            <a:r>
              <a:rPr kumimoji="1" lang="en-US" altLang="zh-TW" dirty="0"/>
              <a:t>"]</a:t>
            </a:r>
          </a:p>
          <a:p>
            <a:r>
              <a:rPr kumimoji="1" lang="en-US" altLang="zh-TW" dirty="0"/>
              <a:t>temperatures = [25, 27, 24, 22, 28, 30, 23, 21, 26, 29]  # </a:t>
            </a:r>
            <a:r>
              <a:rPr kumimoji="1" lang="zh-TW" altLang="en-US" dirty="0"/>
              <a:t>假設的今日溫度</a:t>
            </a:r>
          </a:p>
          <a:p>
            <a:r>
              <a:rPr lang="en-US" altLang="zh-TW" dirty="0">
                <a:solidFill>
                  <a:srgbClr val="FFFF00"/>
                </a:solidFill>
              </a:rPr>
              <a:t>cities </a:t>
            </a:r>
            <a:r>
              <a:rPr lang="zh-TW" altLang="en-US" dirty="0">
                <a:solidFill>
                  <a:srgbClr val="FFFF00"/>
                </a:solidFill>
              </a:rPr>
              <a:t>列表包含了</a:t>
            </a:r>
            <a:r>
              <a:rPr lang="en-US" altLang="zh-TW" dirty="0">
                <a:solidFill>
                  <a:srgbClr val="FFFF00"/>
                </a:solidFill>
              </a:rPr>
              <a:t>10</a:t>
            </a:r>
            <a:r>
              <a:rPr lang="zh-TW" altLang="en-US" dirty="0">
                <a:solidFill>
                  <a:srgbClr val="FFFF00"/>
                </a:solidFill>
              </a:rPr>
              <a:t>個主要台灣縣市的名稱。</a:t>
            </a:r>
          </a:p>
          <a:p>
            <a:r>
              <a:rPr lang="en-US" altLang="zh-TW" dirty="0">
                <a:solidFill>
                  <a:srgbClr val="FFFF00"/>
                </a:solidFill>
              </a:rPr>
              <a:t>temperatures </a:t>
            </a:r>
            <a:r>
              <a:rPr lang="zh-TW" altLang="en-US" dirty="0">
                <a:solidFill>
                  <a:srgbClr val="FFFF00"/>
                </a:solidFill>
              </a:rPr>
              <a:t>列表包含了與 </a:t>
            </a:r>
            <a:r>
              <a:rPr lang="en-US" altLang="zh-TW" dirty="0">
                <a:solidFill>
                  <a:srgbClr val="FFFF00"/>
                </a:solidFill>
              </a:rPr>
              <a:t>cities </a:t>
            </a:r>
            <a:r>
              <a:rPr lang="zh-TW" altLang="en-US" dirty="0">
                <a:solidFill>
                  <a:srgbClr val="FFFF00"/>
                </a:solidFill>
              </a:rPr>
              <a:t>對應的假設今日溫度，順序相同，即 </a:t>
            </a:r>
            <a:r>
              <a:rPr lang="en-US" altLang="zh-TW" dirty="0">
                <a:solidFill>
                  <a:srgbClr val="FFFF00"/>
                </a:solidFill>
              </a:rPr>
              <a:t>cities[0] </a:t>
            </a:r>
            <a:r>
              <a:rPr lang="zh-TW" altLang="en-US" dirty="0">
                <a:solidFill>
                  <a:srgbClr val="FFFF00"/>
                </a:solidFill>
              </a:rPr>
              <a:t>的溫度是 </a:t>
            </a:r>
            <a:r>
              <a:rPr lang="en-US" altLang="zh-TW" dirty="0">
                <a:solidFill>
                  <a:srgbClr val="FFFF00"/>
                </a:solidFill>
              </a:rPr>
              <a:t>temperatures[0]</a:t>
            </a:r>
            <a:endParaRPr kumimoji="1" lang="zh-TW" altLang="en-US" dirty="0"/>
          </a:p>
          <a:p>
            <a:r>
              <a:rPr kumimoji="1" lang="en-US" altLang="zh-TW" dirty="0"/>
              <a:t># </a:t>
            </a:r>
            <a:r>
              <a:rPr kumimoji="1" lang="zh-TW" altLang="en-US" dirty="0"/>
              <a:t>使用者輸入</a:t>
            </a:r>
          </a:p>
          <a:p>
            <a:r>
              <a:rPr kumimoji="1" lang="en-US" altLang="zh-TW" dirty="0" err="1"/>
              <a:t>user_input</a:t>
            </a:r>
            <a:r>
              <a:rPr kumimoji="1" lang="en-US" altLang="zh-TW" dirty="0"/>
              <a:t> = input("</a:t>
            </a:r>
            <a:r>
              <a:rPr kumimoji="1" lang="zh-TW" altLang="en-US" dirty="0"/>
              <a:t>請輸入台灣縣市</a:t>
            </a:r>
            <a:r>
              <a:rPr kumimoji="1" lang="en-US" altLang="zh-TW" dirty="0"/>
              <a:t>: ")</a:t>
            </a:r>
          </a:p>
          <a:p>
            <a:r>
              <a:rPr lang="zh-TW" altLang="en-US" dirty="0">
                <a:solidFill>
                  <a:srgbClr val="FFFF00"/>
                </a:solidFill>
              </a:rPr>
              <a:t>使用 </a:t>
            </a:r>
            <a:r>
              <a:rPr lang="en-US" altLang="zh-TW" dirty="0">
                <a:solidFill>
                  <a:srgbClr val="FFFF00"/>
                </a:solidFill>
              </a:rPr>
              <a:t>input() </a:t>
            </a:r>
            <a:r>
              <a:rPr lang="zh-TW" altLang="en-US" dirty="0">
                <a:solidFill>
                  <a:srgbClr val="FFFF00"/>
                </a:solidFill>
              </a:rPr>
              <a:t>函數向使用者請求輸入一個台灣縣市的名稱</a:t>
            </a:r>
            <a:endParaRPr kumimoji="1" lang="en-US" altLang="zh-TW" dirty="0">
              <a:solidFill>
                <a:srgbClr val="FFFF00"/>
              </a:solidFill>
            </a:endParaRPr>
          </a:p>
          <a:p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43138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763E6739-1200-B6E8-E636-210E2D2F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5E6C1875-B484-580D-05FA-E69235C2009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BD759195-A622-A61A-8156-2CBAFF3D085D}"/>
              </a:ext>
            </a:extLst>
          </p:cNvPr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76AFB359-5660-B042-FC2B-131CE9284C65}"/>
              </a:ext>
            </a:extLst>
          </p:cNvPr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 dirty="0">
                <a:solidFill>
                  <a:schemeClr val="accent5"/>
                </a:solidFill>
              </a:rPr>
              <a:t>專案成果</a:t>
            </a:r>
            <a:endParaRPr sz="3000" b="1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9464B73A-3C50-D597-E998-449EA44C9226}"/>
              </a:ext>
            </a:extLst>
          </p:cNvPr>
          <p:cNvSpPr txBox="1"/>
          <p:nvPr/>
        </p:nvSpPr>
        <p:spPr>
          <a:xfrm>
            <a:off x="2252633" y="188626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描述經過努力之後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你完成的程式長得如何? 可以</a:t>
            </a:r>
            <a:r>
              <a:rPr lang="zh-TW" altLang="en-US" sz="2000" b="1" dirty="0">
                <a:solidFill>
                  <a:schemeClr val="lt1"/>
                </a:solidFill>
              </a:rPr>
              <a:t>用</a:t>
            </a:r>
            <a:r>
              <a:rPr lang="zh-TW" sz="2000" b="1" dirty="0">
                <a:solidFill>
                  <a:schemeClr val="lt1"/>
                </a:solidFill>
              </a:rPr>
              <a:t>圖片貼上來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圖太大就多貼幾頁，</a:t>
            </a:r>
            <a:r>
              <a:rPr lang="zh-TW" altLang="en-US" sz="2000" b="1" dirty="0">
                <a:solidFill>
                  <a:schemeClr val="lt1"/>
                </a:solidFill>
              </a:rPr>
              <a:t>若</a:t>
            </a:r>
            <a:r>
              <a:rPr lang="zh-TW" sz="2000" b="1" dirty="0">
                <a:solidFill>
                  <a:schemeClr val="lt1"/>
                </a:solidFill>
              </a:rPr>
              <a:t>用文字輔助解釋</a:t>
            </a:r>
            <a:r>
              <a:rPr lang="zh-TW" altLang="en-US" sz="2000" b="1" dirty="0">
                <a:solidFill>
                  <a:schemeClr val="lt1"/>
                </a:solidFill>
              </a:rPr>
              <a:t>更好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045BD84C-C240-44BD-808E-0ECF9ECE1FDD}"/>
              </a:ext>
            </a:extLst>
          </p:cNvPr>
          <p:cNvSpPr/>
          <p:nvPr/>
        </p:nvSpPr>
        <p:spPr>
          <a:xfrm>
            <a:off x="2356000" y="1163562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4D7117-4D20-CE24-FDCA-74243BC209A2}"/>
              </a:ext>
            </a:extLst>
          </p:cNvPr>
          <p:cNvSpPr txBox="1"/>
          <p:nvPr/>
        </p:nvSpPr>
        <p:spPr>
          <a:xfrm>
            <a:off x="2392475" y="1202413"/>
            <a:ext cx="61041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# </a:t>
            </a:r>
            <a:r>
              <a:rPr kumimoji="1" lang="zh-TW" altLang="en-US" dirty="0"/>
              <a:t>查找該縣市的溫度</a:t>
            </a:r>
          </a:p>
          <a:p>
            <a:r>
              <a:rPr kumimoji="1" lang="en-US" altLang="zh-TW" dirty="0"/>
              <a:t>if </a:t>
            </a:r>
            <a:r>
              <a:rPr kumimoji="1" lang="en-US" altLang="zh-TW" dirty="0" err="1"/>
              <a:t>user_input</a:t>
            </a:r>
            <a:r>
              <a:rPr kumimoji="1" lang="en-US" altLang="zh-TW" dirty="0"/>
              <a:t> in cities:</a:t>
            </a:r>
          </a:p>
          <a:p>
            <a:r>
              <a:rPr kumimoji="1" lang="en-US" altLang="zh-TW" dirty="0"/>
              <a:t>    index = </a:t>
            </a:r>
            <a:r>
              <a:rPr kumimoji="1" lang="en-US" altLang="zh-TW" dirty="0" err="1"/>
              <a:t>cities.index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user_input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    temperature = temperatures[index]</a:t>
            </a:r>
          </a:p>
          <a:p>
            <a:r>
              <a:rPr kumimoji="1" lang="en-US" altLang="zh-TW" dirty="0"/>
              <a:t>    print(f"{</a:t>
            </a:r>
            <a:r>
              <a:rPr kumimoji="1" lang="en-US" altLang="zh-TW" dirty="0" err="1"/>
              <a:t>user_input</a:t>
            </a:r>
            <a:r>
              <a:rPr kumimoji="1" lang="en-US" altLang="zh-TW" dirty="0"/>
              <a:t>} </a:t>
            </a:r>
            <a:r>
              <a:rPr kumimoji="1" lang="zh-TW" altLang="en-US" dirty="0"/>
              <a:t>今天的溫度是 </a:t>
            </a:r>
            <a:r>
              <a:rPr kumimoji="1" lang="en-US" altLang="zh-TW" dirty="0"/>
              <a:t>{temperature}°C")</a:t>
            </a:r>
          </a:p>
          <a:p>
            <a:r>
              <a:rPr lang="zh-TW" altLang="en-US" dirty="0">
                <a:solidFill>
                  <a:srgbClr val="FFFF00"/>
                </a:solidFill>
              </a:rPr>
              <a:t>使用 </a:t>
            </a:r>
            <a:r>
              <a:rPr lang="en-US" altLang="zh-TW" dirty="0">
                <a:solidFill>
                  <a:srgbClr val="FFFF00"/>
                </a:solidFill>
              </a:rPr>
              <a:t>if </a:t>
            </a:r>
            <a:r>
              <a:rPr lang="zh-TW" altLang="en-US" dirty="0">
                <a:solidFill>
                  <a:srgbClr val="FFFF00"/>
                </a:solidFill>
              </a:rPr>
              <a:t>語句確認使用者輸入的城市是否存在於 </a:t>
            </a:r>
            <a:r>
              <a:rPr lang="en-US" altLang="zh-TW" dirty="0">
                <a:solidFill>
                  <a:srgbClr val="FFFF00"/>
                </a:solidFill>
              </a:rPr>
              <a:t>cities </a:t>
            </a:r>
            <a:r>
              <a:rPr lang="zh-TW" altLang="en-US" dirty="0">
                <a:solidFill>
                  <a:srgbClr val="FFFF00"/>
                </a:solidFill>
              </a:rPr>
              <a:t>列表中。</a:t>
            </a:r>
            <a:endParaRPr lang="en-US" altLang="zh-TW" dirty="0">
              <a:solidFill>
                <a:srgbClr val="FFFF00"/>
              </a:solidFill>
            </a:endParaRPr>
          </a:p>
          <a:p>
            <a:r>
              <a:rPr lang="zh-TW" altLang="en-US" dirty="0">
                <a:solidFill>
                  <a:srgbClr val="FFFF00"/>
                </a:solidFill>
              </a:rPr>
              <a:t>如果存在：</a:t>
            </a:r>
          </a:p>
          <a:p>
            <a:pPr lvl="1"/>
            <a:r>
              <a:rPr lang="zh-TW" altLang="en-US" dirty="0">
                <a:solidFill>
                  <a:srgbClr val="FFFF00"/>
                </a:solidFill>
              </a:rPr>
              <a:t>使用 </a:t>
            </a:r>
            <a:r>
              <a:rPr lang="en-US" altLang="zh-TW" dirty="0" err="1">
                <a:solidFill>
                  <a:srgbClr val="FFFF00"/>
                </a:solidFill>
              </a:rPr>
              <a:t>cities.index</a:t>
            </a:r>
            <a:r>
              <a:rPr lang="en-US" altLang="zh-TW" dirty="0">
                <a:solidFill>
                  <a:srgbClr val="FFFF00"/>
                </a:solidFill>
              </a:rPr>
              <a:t>(</a:t>
            </a:r>
            <a:r>
              <a:rPr lang="en-US" altLang="zh-TW" dirty="0" err="1">
                <a:solidFill>
                  <a:srgbClr val="FFFF00"/>
                </a:solidFill>
              </a:rPr>
              <a:t>user_input</a:t>
            </a:r>
            <a:r>
              <a:rPr lang="en-US" altLang="zh-TW" dirty="0">
                <a:solidFill>
                  <a:srgbClr val="FFFF00"/>
                </a:solidFill>
              </a:rPr>
              <a:t>) </a:t>
            </a:r>
            <a:r>
              <a:rPr lang="zh-TW" altLang="en-US" dirty="0">
                <a:solidFill>
                  <a:srgbClr val="FFFF00"/>
                </a:solidFill>
              </a:rPr>
              <a:t>找到使用者輸入的城市在列表中的索引位置，並將其存儲在變數 </a:t>
            </a:r>
            <a:r>
              <a:rPr lang="en-US" altLang="zh-TW" dirty="0">
                <a:solidFill>
                  <a:srgbClr val="FFFF00"/>
                </a:solidFill>
              </a:rPr>
              <a:t>index </a:t>
            </a:r>
            <a:r>
              <a:rPr lang="zh-TW" altLang="en-US" dirty="0">
                <a:solidFill>
                  <a:srgbClr val="FFFF00"/>
                </a:solidFill>
              </a:rPr>
              <a:t>中。</a:t>
            </a:r>
          </a:p>
          <a:p>
            <a:pPr lvl="1"/>
            <a:r>
              <a:rPr lang="zh-TW" altLang="en-US" dirty="0">
                <a:solidFill>
                  <a:srgbClr val="FFFF00"/>
                </a:solidFill>
              </a:rPr>
              <a:t>根據 </a:t>
            </a:r>
            <a:r>
              <a:rPr lang="en-US" altLang="zh-TW" dirty="0">
                <a:solidFill>
                  <a:srgbClr val="FFFF00"/>
                </a:solidFill>
              </a:rPr>
              <a:t>index </a:t>
            </a:r>
            <a:r>
              <a:rPr lang="zh-TW" altLang="en-US" dirty="0">
                <a:solidFill>
                  <a:srgbClr val="FFFF00"/>
                </a:solidFill>
              </a:rPr>
              <a:t>獲取對應的溫度 </a:t>
            </a:r>
            <a:r>
              <a:rPr lang="en-US" altLang="zh-TW" dirty="0">
                <a:solidFill>
                  <a:srgbClr val="FFFF00"/>
                </a:solidFill>
              </a:rPr>
              <a:t>temperatures[index]</a:t>
            </a:r>
            <a:r>
              <a:rPr lang="zh-TW" altLang="en-US" dirty="0">
                <a:solidFill>
                  <a:srgbClr val="FFFF00"/>
                </a:solidFill>
              </a:rPr>
              <a:t>，並存儲在變數 </a:t>
            </a:r>
            <a:r>
              <a:rPr lang="en-US" altLang="zh-TW" dirty="0">
                <a:solidFill>
                  <a:srgbClr val="FFFF00"/>
                </a:solidFill>
              </a:rPr>
              <a:t>temperature </a:t>
            </a:r>
            <a:r>
              <a:rPr lang="zh-TW" altLang="en-US" dirty="0">
                <a:solidFill>
                  <a:srgbClr val="FFFF00"/>
                </a:solidFill>
              </a:rPr>
              <a:t>中。</a:t>
            </a:r>
          </a:p>
          <a:p>
            <a:pPr lvl="1"/>
            <a:r>
              <a:rPr lang="zh-TW" altLang="en-US" dirty="0">
                <a:solidFill>
                  <a:srgbClr val="FFFF00"/>
                </a:solidFill>
              </a:rPr>
              <a:t>使用 </a:t>
            </a:r>
            <a:r>
              <a:rPr lang="en-US" altLang="zh-TW" dirty="0">
                <a:solidFill>
                  <a:srgbClr val="FFFF00"/>
                </a:solidFill>
              </a:rPr>
              <a:t>print() </a:t>
            </a:r>
            <a:r>
              <a:rPr lang="zh-TW" altLang="en-US" dirty="0">
                <a:solidFill>
                  <a:srgbClr val="FFFF00"/>
                </a:solidFill>
              </a:rPr>
              <a:t>函數輸出該縣市及其今日的溫度，格式化輸出為 </a:t>
            </a:r>
            <a:r>
              <a:rPr lang="en-US" altLang="zh-TW" dirty="0">
                <a:solidFill>
                  <a:srgbClr val="FFFF00"/>
                </a:solidFill>
              </a:rPr>
              <a:t>"X </a:t>
            </a:r>
            <a:r>
              <a:rPr lang="zh-TW" altLang="en-US" dirty="0">
                <a:solidFill>
                  <a:srgbClr val="FFFF00"/>
                </a:solidFill>
              </a:rPr>
              <a:t>今天的溫度是 </a:t>
            </a:r>
            <a:r>
              <a:rPr lang="en-US" altLang="zh-TW" dirty="0">
                <a:solidFill>
                  <a:srgbClr val="FFFF00"/>
                </a:solidFill>
              </a:rPr>
              <a:t>Y°C</a:t>
            </a:r>
            <a:r>
              <a:rPr lang="en-US" altLang="zh-TW" dirty="0"/>
              <a:t>"</a:t>
            </a:r>
            <a:endParaRPr kumimoji="1" lang="en-US" altLang="zh-TW" dirty="0"/>
          </a:p>
          <a:p>
            <a:r>
              <a:rPr kumimoji="1" lang="en-US" altLang="zh-TW" dirty="0"/>
              <a:t>else:</a:t>
            </a:r>
          </a:p>
          <a:p>
            <a:r>
              <a:rPr kumimoji="1" lang="en-US" altLang="zh-TW" dirty="0"/>
              <a:t>    print("</a:t>
            </a:r>
            <a:r>
              <a:rPr kumimoji="1" lang="zh-TW" altLang="en-US" dirty="0"/>
              <a:t>未找到該縣市，請檢查輸入是否正確。</a:t>
            </a:r>
            <a:r>
              <a:rPr kumimoji="1" lang="en-US" altLang="zh-TW" dirty="0"/>
              <a:t>")</a:t>
            </a:r>
          </a:p>
          <a:p>
            <a:r>
              <a:rPr lang="zh-TW" altLang="en-US" dirty="0">
                <a:solidFill>
                  <a:srgbClr val="FFFF00"/>
                </a:solidFill>
              </a:rPr>
              <a:t>如果不存在：輸出一條提示消息 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>
                <a:solidFill>
                  <a:srgbClr val="FFFF00"/>
                </a:solidFill>
              </a:rPr>
              <a:t>未找到該縣市，請檢查輸入是否正確。</a:t>
            </a:r>
            <a:r>
              <a:rPr lang="en-US" altLang="zh-TW" dirty="0">
                <a:solidFill>
                  <a:srgbClr val="FFFF00"/>
                </a:solidFill>
              </a:rPr>
              <a:t>"</a:t>
            </a:r>
            <a:r>
              <a:rPr lang="zh-TW" altLang="en-US" dirty="0">
                <a:solidFill>
                  <a:srgbClr val="FFFF00"/>
                </a:solidFill>
              </a:rPr>
              <a:t>，以提醒使用者查驗他們的輸入</a:t>
            </a:r>
          </a:p>
        </p:txBody>
      </p:sp>
    </p:spTree>
    <p:extLst>
      <p:ext uri="{BB962C8B-B14F-4D97-AF65-F5344CB8AC3E}">
        <p14:creationId xmlns:p14="http://schemas.microsoft.com/office/powerpoint/2010/main" val="831088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0" y="231550"/>
            <a:ext cx="9144000" cy="51435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>
                <a:solidFill>
                  <a:schemeClr val="accent5"/>
                </a:solidFill>
              </a:rPr>
              <a:t>團隊合作</a:t>
            </a:r>
            <a:endParaRPr sz="30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這個作業是否有和他人</a:t>
            </a:r>
            <a:r>
              <a:rPr lang="zh-TW" altLang="en-US" sz="2000" b="1" dirty="0">
                <a:solidFill>
                  <a:schemeClr val="lt1"/>
                </a:solidFill>
              </a:rPr>
              <a:t>或</a:t>
            </a:r>
            <a:r>
              <a:rPr lang="en-US" altLang="zh-TW" sz="2000" b="1" dirty="0">
                <a:solidFill>
                  <a:schemeClr val="lt1"/>
                </a:solidFill>
              </a:rPr>
              <a:t>AI</a:t>
            </a:r>
            <a:r>
              <a:rPr lang="zh-TW" altLang="en-US" sz="2000" b="1" dirty="0">
                <a:solidFill>
                  <a:schemeClr val="lt1"/>
                </a:solidFill>
              </a:rPr>
              <a:t>工具</a:t>
            </a:r>
            <a:r>
              <a:rPr lang="zh-TW" sz="2000" b="1" dirty="0">
                <a:solidFill>
                  <a:schemeClr val="lt1"/>
                </a:solidFill>
              </a:rPr>
              <a:t>合作?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 dirty="0">
                <a:solidFill>
                  <a:schemeClr val="lt1"/>
                </a:solidFill>
              </a:rPr>
              <a:t>是怎麼合作的呢?</a:t>
            </a:r>
            <a:endParaRPr sz="2000" b="1" dirty="0">
              <a:solidFill>
                <a:schemeClr val="lt1"/>
              </a:solidFill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356000" y="1181950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3F11C16-DB41-8D44-C9E6-284FDD4820DC}"/>
              </a:ext>
            </a:extLst>
          </p:cNvPr>
          <p:cNvSpPr txBox="1"/>
          <p:nvPr/>
        </p:nvSpPr>
        <p:spPr>
          <a:xfrm>
            <a:off x="2735961" y="1757238"/>
            <a:ext cx="4944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解釋的部分我有請精靈幫我解釋更好說法，第一題很多地方有寫錯也有用</a:t>
            </a:r>
            <a:r>
              <a:rPr kumimoji="1" lang="en-US" altLang="zh-TW" dirty="0"/>
              <a:t>AI</a:t>
            </a:r>
            <a:r>
              <a:rPr kumimoji="1" lang="zh-TW" altLang="en-US" dirty="0"/>
              <a:t>去修改一下</a:t>
            </a:r>
            <a:endParaRPr kumimoji="1" lang="en-US" altLang="zh-TW" dirty="0"/>
          </a:p>
          <a:p>
            <a:r>
              <a:rPr kumimoji="1" lang="zh-TW" altLang="en-US" dirty="0"/>
              <a:t>也有和同學討論一下該怎麼寫更好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0" y="-11025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>
                <a:solidFill>
                  <a:schemeClr val="accent5"/>
                </a:solidFill>
              </a:rPr>
              <a:t>遇到的困難</a:t>
            </a:r>
            <a:endParaRPr sz="30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>
                <a:solidFill>
                  <a:schemeClr val="lt1"/>
                </a:solidFill>
              </a:rPr>
              <a:t>中間有遇到任何困難嗎?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2356000" y="1181950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75D355D-6548-CF46-9522-0CE85606A284}"/>
              </a:ext>
            </a:extLst>
          </p:cNvPr>
          <p:cNvSpPr txBox="1"/>
          <p:nvPr/>
        </p:nvSpPr>
        <p:spPr>
          <a:xfrm>
            <a:off x="2827410" y="1820848"/>
            <a:ext cx="5286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對我來說我認為最困難的地方是要去想該如何設立程式碼，讓我覺得蠻難的，不過最後也有使用工具，才順利完成這項功課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0" y="-11025"/>
            <a:ext cx="9144000" cy="51435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-1799950" y="617100"/>
            <a:ext cx="3909300" cy="390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-150375" y="1881750"/>
            <a:ext cx="2296200" cy="1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TW" sz="3000" b="1">
                <a:solidFill>
                  <a:schemeClr val="accent5"/>
                </a:solidFill>
              </a:rPr>
              <a:t>心得感想</a:t>
            </a:r>
            <a:endParaRPr sz="30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2356000" y="231550"/>
            <a:ext cx="61041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000" b="1">
                <a:solidFill>
                  <a:schemeClr val="lt1"/>
                </a:solidFill>
              </a:rPr>
              <a:t>撰寫程式時的心得感想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356000" y="1181950"/>
            <a:ext cx="6104100" cy="3823200"/>
          </a:xfrm>
          <a:prstGeom prst="rect">
            <a:avLst/>
          </a:prstGeom>
          <a:noFill/>
          <a:ln w="285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E69BEF9-6939-1289-8C0D-7E7E66BC7236}"/>
              </a:ext>
            </a:extLst>
          </p:cNvPr>
          <p:cNvSpPr txBox="1"/>
          <p:nvPr/>
        </p:nvSpPr>
        <p:spPr>
          <a:xfrm>
            <a:off x="2786025" y="1759666"/>
            <a:ext cx="4863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我覺得寫程式是一件蠻困難的事情，但是當解出答案時，我也覺得成就感滿滿的！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1596</Words>
  <Application>Microsoft Macintosh PowerPoint</Application>
  <PresentationFormat>如螢幕大小 (16:9)</PresentationFormat>
  <Paragraphs>148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 作業投影片</vt:lpstr>
      <vt:lpstr>題目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作業投影片</dc:title>
  <cp:lastModifiedBy>C113190112</cp:lastModifiedBy>
  <cp:revision>6</cp:revision>
  <dcterms:modified xsi:type="dcterms:W3CDTF">2025-10-15T05:43:04Z</dcterms:modified>
</cp:coreProperties>
</file>